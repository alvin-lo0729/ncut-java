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3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307" r:id="rId21"/>
    <p:sldId id="308" r:id="rId22"/>
    <p:sldId id="309" r:id="rId23"/>
    <p:sldId id="310" r:id="rId24"/>
    <p:sldId id="311" r:id="rId25"/>
    <p:sldId id="312" r:id="rId26"/>
    <p:sldId id="313" r:id="rId27"/>
    <p:sldId id="314" r:id="rId28"/>
    <p:sldId id="315" r:id="rId29"/>
    <p:sldId id="316" r:id="rId30"/>
    <p:sldId id="317" r:id="rId31"/>
    <p:sldId id="318" r:id="rId32"/>
  </p:sldIdLst>
  <p:sldSz cx="12192000" cy="6858000"/>
  <p:notesSz cx="6858000" cy="9144000"/>
  <p:custDataLst>
    <p:tags r:id="rId3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B2AAA664-0775-419F-AA6B-56C28090E6D4}">
          <p14:sldIdLst>
            <p14:sldId id="256"/>
            <p14:sldId id="288"/>
          </p14:sldIdLst>
        </p14:section>
        <p14:section name="c4" id="{0D5C788B-F452-450C-A50B-C04D3BE99BF5}">
          <p14:sldIdLst>
            <p14:sldId id="289"/>
            <p14:sldId id="290"/>
          </p14:sldIdLst>
        </p14:section>
        <p14:section name="c4.1" id="{A07705E5-41B4-4D99-A17F-2435AAAF8884}">
          <p14:sldIdLst>
            <p14:sldId id="291"/>
          </p14:sldIdLst>
        </p14:section>
        <p14:section name="c4.2" id="{B0177F2E-A865-4AF2-B0D1-847DBAEA3BF8}">
          <p14:sldIdLst>
            <p14:sldId id="292"/>
            <p14:sldId id="293"/>
            <p14:sldId id="294"/>
            <p14:sldId id="295"/>
          </p14:sldIdLst>
        </p14:section>
        <p14:section name="4.3" id="{B6A0C6FA-18FB-43E8-9EAC-6B93BCF516B7}">
          <p14:sldIdLst>
            <p14:sldId id="296"/>
            <p14:sldId id="297"/>
            <p14:sldId id="298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286" autoAdjust="0"/>
  </p:normalViewPr>
  <p:slideViewPr>
    <p:cSldViewPr snapToGrid="0">
      <p:cViewPr>
        <p:scale>
          <a:sx n="150" d="100"/>
          <a:sy n="150" d="100"/>
        </p:scale>
        <p:origin x="120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10C-07F1-44AE-9494-72A7A2980C1F}" type="datetimeFigureOut">
              <a:rPr lang="zh-TW" altLang="en-US" smtClean="0"/>
              <a:t>2026/2/3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075AC-DAE8-4641-B57E-2153F538AA2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977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D5E51B-E62C-7367-1E2F-2A6985338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13E57-165C-5999-6063-9D211CBE7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43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4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15" name="Group 1032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4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3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4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5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6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7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8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9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0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1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2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3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4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5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6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7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8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9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0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1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2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3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4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5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6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7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D706AE2E-B17B-43A3-84F8-9C0FE9466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2003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CEFFB8CF-3E94-42D7-849C-841E7744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92" name="Rectangle 5">
              <a:extLst>
                <a:ext uri="{FF2B5EF4-FFF2-40B4-BE49-F238E27FC236}">
                  <a16:creationId xmlns:a16="http://schemas.microsoft.com/office/drawing/2014/main" id="{C274DE9A-4502-4454-911E-B7FE9ED6D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3" name="Freeform 6">
              <a:extLst>
                <a:ext uri="{FF2B5EF4-FFF2-40B4-BE49-F238E27FC236}">
                  <a16:creationId xmlns:a16="http://schemas.microsoft.com/office/drawing/2014/main" id="{76AFCF59-7BED-416B-ACD9-EA099C9B2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4" name="Freeform 7">
              <a:extLst>
                <a:ext uri="{FF2B5EF4-FFF2-40B4-BE49-F238E27FC236}">
                  <a16:creationId xmlns:a16="http://schemas.microsoft.com/office/drawing/2014/main" id="{8EEECEBC-B149-42E5-8164-EE5456F06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5" name="Rectangle 8">
              <a:extLst>
                <a:ext uri="{FF2B5EF4-FFF2-40B4-BE49-F238E27FC236}">
                  <a16:creationId xmlns:a16="http://schemas.microsoft.com/office/drawing/2014/main" id="{03B49256-D2D8-436B-8F29-0C7E5336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6" name="Freeform 9">
              <a:extLst>
                <a:ext uri="{FF2B5EF4-FFF2-40B4-BE49-F238E27FC236}">
                  <a16:creationId xmlns:a16="http://schemas.microsoft.com/office/drawing/2014/main" id="{4045E56F-B537-408E-B346-B9B15C39A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7" name="Freeform 10">
              <a:extLst>
                <a:ext uri="{FF2B5EF4-FFF2-40B4-BE49-F238E27FC236}">
                  <a16:creationId xmlns:a16="http://schemas.microsoft.com/office/drawing/2014/main" id="{904BDB2F-0893-4AD7-A871-C808C9651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8" name="Freeform 11">
              <a:extLst>
                <a:ext uri="{FF2B5EF4-FFF2-40B4-BE49-F238E27FC236}">
                  <a16:creationId xmlns:a16="http://schemas.microsoft.com/office/drawing/2014/main" id="{512D8C6F-C154-4928-9891-DDCF50DA6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9" name="Freeform 12">
              <a:extLst>
                <a:ext uri="{FF2B5EF4-FFF2-40B4-BE49-F238E27FC236}">
                  <a16:creationId xmlns:a16="http://schemas.microsoft.com/office/drawing/2014/main" id="{7E2BBA63-D694-4AD5-976F-4F1CDB204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0" name="Freeform 13">
              <a:extLst>
                <a:ext uri="{FF2B5EF4-FFF2-40B4-BE49-F238E27FC236}">
                  <a16:creationId xmlns:a16="http://schemas.microsoft.com/office/drawing/2014/main" id="{394F9847-4F95-42E8-AE7E-8DD8A0E2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1" name="Freeform 14">
              <a:extLst>
                <a:ext uri="{FF2B5EF4-FFF2-40B4-BE49-F238E27FC236}">
                  <a16:creationId xmlns:a16="http://schemas.microsoft.com/office/drawing/2014/main" id="{48CE4CA3-085D-44AC-996B-9F347B7BC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2" name="Freeform 15">
              <a:extLst>
                <a:ext uri="{FF2B5EF4-FFF2-40B4-BE49-F238E27FC236}">
                  <a16:creationId xmlns:a16="http://schemas.microsoft.com/office/drawing/2014/main" id="{0D7459AE-7E00-4707-B574-1D3636BB4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3" name="Freeform 16">
              <a:extLst>
                <a:ext uri="{FF2B5EF4-FFF2-40B4-BE49-F238E27FC236}">
                  <a16:creationId xmlns:a16="http://schemas.microsoft.com/office/drawing/2014/main" id="{EF95E020-0C4A-4BD5-84BE-6DF8B8BCA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4" name="Freeform 17">
              <a:extLst>
                <a:ext uri="{FF2B5EF4-FFF2-40B4-BE49-F238E27FC236}">
                  <a16:creationId xmlns:a16="http://schemas.microsoft.com/office/drawing/2014/main" id="{18CC4862-B9BB-4E63-9630-AA5241E68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5" name="Freeform 18">
              <a:extLst>
                <a:ext uri="{FF2B5EF4-FFF2-40B4-BE49-F238E27FC236}">
                  <a16:creationId xmlns:a16="http://schemas.microsoft.com/office/drawing/2014/main" id="{156A0508-DDAB-4BFB-824D-CA9D3D833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6" name="Freeform 19">
              <a:extLst>
                <a:ext uri="{FF2B5EF4-FFF2-40B4-BE49-F238E27FC236}">
                  <a16:creationId xmlns:a16="http://schemas.microsoft.com/office/drawing/2014/main" id="{E3B0103B-60DE-4385-B84E-53694FB9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7" name="Freeform 20">
              <a:extLst>
                <a:ext uri="{FF2B5EF4-FFF2-40B4-BE49-F238E27FC236}">
                  <a16:creationId xmlns:a16="http://schemas.microsoft.com/office/drawing/2014/main" id="{C8C1C0D4-C36E-4251-A97F-436AFA379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8" name="Freeform 21">
              <a:extLst>
                <a:ext uri="{FF2B5EF4-FFF2-40B4-BE49-F238E27FC236}">
                  <a16:creationId xmlns:a16="http://schemas.microsoft.com/office/drawing/2014/main" id="{550D7341-7849-4B72-A2D7-68B7161D4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9" name="Freeform 22">
              <a:extLst>
                <a:ext uri="{FF2B5EF4-FFF2-40B4-BE49-F238E27FC236}">
                  <a16:creationId xmlns:a16="http://schemas.microsoft.com/office/drawing/2014/main" id="{C9E742C7-3FF2-4931-B087-46AAA6C33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0" name="Freeform 23">
              <a:extLst>
                <a:ext uri="{FF2B5EF4-FFF2-40B4-BE49-F238E27FC236}">
                  <a16:creationId xmlns:a16="http://schemas.microsoft.com/office/drawing/2014/main" id="{424AF1DB-9264-4B94-9F0D-EF37F12D47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1" name="Freeform 24">
              <a:extLst>
                <a:ext uri="{FF2B5EF4-FFF2-40B4-BE49-F238E27FC236}">
                  <a16:creationId xmlns:a16="http://schemas.microsoft.com/office/drawing/2014/main" id="{766E43D2-CF93-4468-9B12-FFB234513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2" name="Freeform 25">
              <a:extLst>
                <a:ext uri="{FF2B5EF4-FFF2-40B4-BE49-F238E27FC236}">
                  <a16:creationId xmlns:a16="http://schemas.microsoft.com/office/drawing/2014/main" id="{AC24EC38-E0E5-4A4E-A64D-359DD4A55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3" name="Freeform 26">
              <a:extLst>
                <a:ext uri="{FF2B5EF4-FFF2-40B4-BE49-F238E27FC236}">
                  <a16:creationId xmlns:a16="http://schemas.microsoft.com/office/drawing/2014/main" id="{338D8FE1-6073-44CF-857C-9273A1607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4" name="Freeform 27">
              <a:extLst>
                <a:ext uri="{FF2B5EF4-FFF2-40B4-BE49-F238E27FC236}">
                  <a16:creationId xmlns:a16="http://schemas.microsoft.com/office/drawing/2014/main" id="{39BAF819-1ABF-4754-B2E6-8C023A3B9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5" name="Freeform 28">
              <a:extLst>
                <a:ext uri="{FF2B5EF4-FFF2-40B4-BE49-F238E27FC236}">
                  <a16:creationId xmlns:a16="http://schemas.microsoft.com/office/drawing/2014/main" id="{2B5FE77A-C8CA-4E0E-BA89-53BA982E6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6" name="Freeform 29">
              <a:extLst>
                <a:ext uri="{FF2B5EF4-FFF2-40B4-BE49-F238E27FC236}">
                  <a16:creationId xmlns:a16="http://schemas.microsoft.com/office/drawing/2014/main" id="{264169FF-BB01-4F56-812A-738BE4AAC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7" name="Freeform 30">
              <a:extLst>
                <a:ext uri="{FF2B5EF4-FFF2-40B4-BE49-F238E27FC236}">
                  <a16:creationId xmlns:a16="http://schemas.microsoft.com/office/drawing/2014/main" id="{831BA8DD-49DA-443B-AD7A-1680CD287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4" name="Freeform 31">
              <a:extLst>
                <a:ext uri="{FF2B5EF4-FFF2-40B4-BE49-F238E27FC236}">
                  <a16:creationId xmlns:a16="http://schemas.microsoft.com/office/drawing/2014/main" id="{15B5FD47-B408-4DD0-BA9C-76C3F6814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5" name="Freeform 32">
              <a:extLst>
                <a:ext uri="{FF2B5EF4-FFF2-40B4-BE49-F238E27FC236}">
                  <a16:creationId xmlns:a16="http://schemas.microsoft.com/office/drawing/2014/main" id="{2432FB6B-FBB2-438F-A3BC-0392CA944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6" name="Rectangle 33">
              <a:extLst>
                <a:ext uri="{FF2B5EF4-FFF2-40B4-BE49-F238E27FC236}">
                  <a16:creationId xmlns:a16="http://schemas.microsoft.com/office/drawing/2014/main" id="{A9E1CA69-4810-4E1D-A227-EA4EF015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7" name="Freeform 34">
              <a:extLst>
                <a:ext uri="{FF2B5EF4-FFF2-40B4-BE49-F238E27FC236}">
                  <a16:creationId xmlns:a16="http://schemas.microsoft.com/office/drawing/2014/main" id="{978653C5-EFDF-4617-9A6A-E810A9C22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8" name="Freeform 35">
              <a:extLst>
                <a:ext uri="{FF2B5EF4-FFF2-40B4-BE49-F238E27FC236}">
                  <a16:creationId xmlns:a16="http://schemas.microsoft.com/office/drawing/2014/main" id="{F1B9F231-1E6A-4122-81B0-043E2A5F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9" name="Freeform 36">
              <a:extLst>
                <a:ext uri="{FF2B5EF4-FFF2-40B4-BE49-F238E27FC236}">
                  <a16:creationId xmlns:a16="http://schemas.microsoft.com/office/drawing/2014/main" id="{DF2B6BD0-0057-43BC-8681-9FAC9FC53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0" name="Freeform 37">
              <a:extLst>
                <a:ext uri="{FF2B5EF4-FFF2-40B4-BE49-F238E27FC236}">
                  <a16:creationId xmlns:a16="http://schemas.microsoft.com/office/drawing/2014/main" id="{6D7D7117-2276-4EB9-882B-A44A2DB0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1" name="Freeform 38">
              <a:extLst>
                <a:ext uri="{FF2B5EF4-FFF2-40B4-BE49-F238E27FC236}">
                  <a16:creationId xmlns:a16="http://schemas.microsoft.com/office/drawing/2014/main" id="{98AD68EB-6444-4B28-8F06-C0B6111AC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2" name="Freeform 39">
              <a:extLst>
                <a:ext uri="{FF2B5EF4-FFF2-40B4-BE49-F238E27FC236}">
                  <a16:creationId xmlns:a16="http://schemas.microsoft.com/office/drawing/2014/main" id="{438FA125-C459-48A2-913F-F5D04E160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3" name="Freeform 40">
              <a:extLst>
                <a:ext uri="{FF2B5EF4-FFF2-40B4-BE49-F238E27FC236}">
                  <a16:creationId xmlns:a16="http://schemas.microsoft.com/office/drawing/2014/main" id="{18E796D1-6480-436F-947D-550CCE516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4" name="Freeform 41">
              <a:extLst>
                <a:ext uri="{FF2B5EF4-FFF2-40B4-BE49-F238E27FC236}">
                  <a16:creationId xmlns:a16="http://schemas.microsoft.com/office/drawing/2014/main" id="{4549B300-4F89-4E35-B5E7-53E3C6A54B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5" name="Freeform 42">
              <a:extLst>
                <a:ext uri="{FF2B5EF4-FFF2-40B4-BE49-F238E27FC236}">
                  <a16:creationId xmlns:a16="http://schemas.microsoft.com/office/drawing/2014/main" id="{D8DA6C40-62DD-4FB3-8D06-5A599E382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6" name="Freeform 43">
              <a:extLst>
                <a:ext uri="{FF2B5EF4-FFF2-40B4-BE49-F238E27FC236}">
                  <a16:creationId xmlns:a16="http://schemas.microsoft.com/office/drawing/2014/main" id="{28EE2B35-9D3D-4925-8DA9-9DF0E40BC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7" name="Freeform 44">
              <a:extLst>
                <a:ext uri="{FF2B5EF4-FFF2-40B4-BE49-F238E27FC236}">
                  <a16:creationId xmlns:a16="http://schemas.microsoft.com/office/drawing/2014/main" id="{9DB82611-4043-4758-81EC-223961980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8" name="Rectangle 45">
              <a:extLst>
                <a:ext uri="{FF2B5EF4-FFF2-40B4-BE49-F238E27FC236}">
                  <a16:creationId xmlns:a16="http://schemas.microsoft.com/office/drawing/2014/main" id="{A8210AB3-0776-4F74-9227-5E448D1AF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9" name="Freeform 46">
              <a:extLst>
                <a:ext uri="{FF2B5EF4-FFF2-40B4-BE49-F238E27FC236}">
                  <a16:creationId xmlns:a16="http://schemas.microsoft.com/office/drawing/2014/main" id="{002C10AB-E300-481E-AFA5-410481B16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0" name="Freeform 47">
              <a:extLst>
                <a:ext uri="{FF2B5EF4-FFF2-40B4-BE49-F238E27FC236}">
                  <a16:creationId xmlns:a16="http://schemas.microsoft.com/office/drawing/2014/main" id="{11F47C5E-0453-4EF5-B969-A8263DC6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1" name="Freeform 48">
              <a:extLst>
                <a:ext uri="{FF2B5EF4-FFF2-40B4-BE49-F238E27FC236}">
                  <a16:creationId xmlns:a16="http://schemas.microsoft.com/office/drawing/2014/main" id="{D0CFDC87-55E8-40E1-BD98-4E1EA2C095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2" name="Freeform 49">
              <a:extLst>
                <a:ext uri="{FF2B5EF4-FFF2-40B4-BE49-F238E27FC236}">
                  <a16:creationId xmlns:a16="http://schemas.microsoft.com/office/drawing/2014/main" id="{C1151505-8A7F-41D8-AE03-AD172E38C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3" name="Freeform 50">
              <a:extLst>
                <a:ext uri="{FF2B5EF4-FFF2-40B4-BE49-F238E27FC236}">
                  <a16:creationId xmlns:a16="http://schemas.microsoft.com/office/drawing/2014/main" id="{918DAD20-1F9F-41A7-B9D0-EE92F9B32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4" name="Freeform 51">
              <a:extLst>
                <a:ext uri="{FF2B5EF4-FFF2-40B4-BE49-F238E27FC236}">
                  <a16:creationId xmlns:a16="http://schemas.microsoft.com/office/drawing/2014/main" id="{D303B51B-ADCC-43C9-AE4F-0168CFA63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5" name="Freeform 52">
              <a:extLst>
                <a:ext uri="{FF2B5EF4-FFF2-40B4-BE49-F238E27FC236}">
                  <a16:creationId xmlns:a16="http://schemas.microsoft.com/office/drawing/2014/main" id="{5621B409-0B0A-4827-81F9-684C335EE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6" name="Freeform 53">
              <a:extLst>
                <a:ext uri="{FF2B5EF4-FFF2-40B4-BE49-F238E27FC236}">
                  <a16:creationId xmlns:a16="http://schemas.microsoft.com/office/drawing/2014/main" id="{FCA6910E-A4EC-464B-B285-5F1E40AEF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7" name="Freeform 54">
              <a:extLst>
                <a:ext uri="{FF2B5EF4-FFF2-40B4-BE49-F238E27FC236}">
                  <a16:creationId xmlns:a16="http://schemas.microsoft.com/office/drawing/2014/main" id="{7D0C75DF-4953-4E72-B34A-2F8BD052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8" name="Freeform 55">
              <a:extLst>
                <a:ext uri="{FF2B5EF4-FFF2-40B4-BE49-F238E27FC236}">
                  <a16:creationId xmlns:a16="http://schemas.microsoft.com/office/drawing/2014/main" id="{998A65EA-C434-41FF-B792-2BDC11501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9" name="Freeform 56">
              <a:extLst>
                <a:ext uri="{FF2B5EF4-FFF2-40B4-BE49-F238E27FC236}">
                  <a16:creationId xmlns:a16="http://schemas.microsoft.com/office/drawing/2014/main" id="{3A6D2AE4-7ABD-4946-BE69-5FD3C1A1D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0" name="Freeform 57">
              <a:extLst>
                <a:ext uri="{FF2B5EF4-FFF2-40B4-BE49-F238E27FC236}">
                  <a16:creationId xmlns:a16="http://schemas.microsoft.com/office/drawing/2014/main" id="{833A81DC-8A3A-4141-A713-A2FE1C572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1" name="Freeform 58">
              <a:extLst>
                <a:ext uri="{FF2B5EF4-FFF2-40B4-BE49-F238E27FC236}">
                  <a16:creationId xmlns:a16="http://schemas.microsoft.com/office/drawing/2014/main" id="{47BB7FFD-57DB-41BD-8D42-9FB58174B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272" name="Picture 2">
            <a:extLst>
              <a:ext uri="{FF2B5EF4-FFF2-40B4-BE49-F238E27FC236}">
                <a16:creationId xmlns:a16="http://schemas.microsoft.com/office/drawing/2014/main" id="{3631D3C9-4C1D-4B3A-A737-E6E780042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176C4E2D-BD2A-8986-C629-3BD2196B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3489569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sz="4400">
                <a:solidFill>
                  <a:srgbClr val="FFFFFF"/>
                </a:solidFill>
              </a:rPr>
              <a:t>可以匿名提問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85B030-BD59-65CC-7156-BC0C3E082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666" y="3602038"/>
            <a:ext cx="3500301" cy="20527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cap="all">
                <a:solidFill>
                  <a:schemeClr val="bg2"/>
                </a:solidFill>
              </a:rPr>
              <a:t>https://app.sli.do/event/2eBN92diw674yrtgzX2Lqu</a:t>
            </a:r>
          </a:p>
        </p:txBody>
      </p:sp>
      <p:sp useBgFill="1">
        <p:nvSpPr>
          <p:cNvPr id="1273" name="Round Diagonal Corner Rectangle 6">
            <a:extLst>
              <a:ext uri="{FF2B5EF4-FFF2-40B4-BE49-F238E27FC236}">
                <a16:creationId xmlns:a16="http://schemas.microsoft.com/office/drawing/2014/main" id="{5B986EF0-8540-483D-9DDE-1F168FAAC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73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071EDC-858E-1093-EBAD-BC9CDD58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流程控制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DC7F42-2AB2-002A-8B07-E68DF609F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sz="1400" dirty="0"/>
              <a:t>順序結構</a:t>
            </a:r>
            <a:endParaRPr lang="en-US" altLang="zh-TW" sz="1400" dirty="0"/>
          </a:p>
          <a:p>
            <a:r>
              <a:rPr lang="zh-TW" altLang="en-US" sz="1400" dirty="0"/>
              <a:t>分支結構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If</a:t>
            </a:r>
            <a:r>
              <a:rPr lang="zh-TW" altLang="en-US" sz="1200" dirty="0"/>
              <a:t>條件式</a:t>
            </a:r>
            <a:endParaRPr lang="en-US" altLang="zh-TW" sz="1200" dirty="0"/>
          </a:p>
          <a:p>
            <a:pPr lvl="1"/>
            <a:r>
              <a:rPr lang="en-US" altLang="zh-TW" sz="1200" dirty="0"/>
              <a:t>switch</a:t>
            </a:r>
            <a:r>
              <a:rPr lang="zh-TW" altLang="en-US" sz="1200" dirty="0"/>
              <a:t>式</a:t>
            </a:r>
            <a:endParaRPr lang="en-US" altLang="zh-TW" sz="1200" dirty="0"/>
          </a:p>
          <a:p>
            <a:r>
              <a:rPr lang="zh-TW" altLang="en-US" sz="1400" dirty="0"/>
              <a:t>迴圈結構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While</a:t>
            </a:r>
          </a:p>
          <a:p>
            <a:pPr lvl="1"/>
            <a:r>
              <a:rPr lang="en-US" altLang="zh-TW" sz="1200" dirty="0"/>
              <a:t>Do while</a:t>
            </a:r>
          </a:p>
          <a:p>
            <a:pPr lvl="1"/>
            <a:r>
              <a:rPr lang="en-US" altLang="zh-TW" sz="1200" dirty="0"/>
              <a:t>For</a:t>
            </a:r>
          </a:p>
          <a:p>
            <a:pPr lvl="1"/>
            <a:r>
              <a:rPr lang="zh-TW" altLang="en-US" sz="1200" dirty="0"/>
              <a:t>巢狀迴圈 </a:t>
            </a:r>
            <a:r>
              <a:rPr lang="en-US" altLang="zh-TW" sz="1200" dirty="0"/>
              <a:t>(Nested Loops)</a:t>
            </a:r>
          </a:p>
          <a:p>
            <a:r>
              <a:rPr lang="zh-TW" altLang="en-US" sz="1400" dirty="0"/>
              <a:t>控制迴圈結構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Break</a:t>
            </a:r>
          </a:p>
          <a:p>
            <a:pPr lvl="1"/>
            <a:r>
              <a:rPr lang="en-US" altLang="zh-TW" sz="1200" dirty="0"/>
              <a:t>Continue</a:t>
            </a:r>
          </a:p>
          <a:p>
            <a:pPr lvl="1"/>
            <a:r>
              <a:rPr lang="en-US" altLang="zh-TW" sz="1200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1070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E30676-1A44-B898-F1DC-34A6709F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17BC-EC9D-32C6-774B-51E1580EA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陣列類型</a:t>
            </a:r>
            <a:endParaRPr lang="en-US" altLang="zh-TW" dirty="0"/>
          </a:p>
          <a:p>
            <a:pPr lvl="1"/>
            <a:r>
              <a:rPr lang="zh-TW" altLang="en-US" dirty="0"/>
              <a:t>理解陣列</a:t>
            </a:r>
            <a:r>
              <a:rPr lang="en-US" altLang="zh-TW" dirty="0"/>
              <a:t>:</a:t>
            </a:r>
            <a:r>
              <a:rPr lang="zh-TW" altLang="en-US" dirty="0"/>
              <a:t>陣列也是一種類型</a:t>
            </a:r>
            <a:endParaRPr lang="en-US" altLang="zh-TW" dirty="0"/>
          </a:p>
          <a:p>
            <a:pPr lvl="1"/>
            <a:r>
              <a:rPr lang="zh-TW" altLang="en-US" dirty="0"/>
              <a:t>定義陣列</a:t>
            </a:r>
            <a:endParaRPr lang="en-US" altLang="zh-TW" dirty="0"/>
          </a:p>
          <a:p>
            <a:pPr lvl="1"/>
            <a:r>
              <a:rPr lang="zh-TW" altLang="en-US" dirty="0"/>
              <a:t>陣列初始化</a:t>
            </a:r>
            <a:endParaRPr lang="en-US" altLang="zh-TW" dirty="0"/>
          </a:p>
          <a:p>
            <a:pPr lvl="1"/>
            <a:r>
              <a:rPr lang="zh-TW" altLang="en-US" dirty="0"/>
              <a:t>使用陣列</a:t>
            </a:r>
            <a:endParaRPr lang="en-US" altLang="zh-TW" dirty="0"/>
          </a:p>
          <a:p>
            <a:pPr lvl="1"/>
            <a:r>
              <a:rPr lang="en-US" altLang="zh-TW" dirty="0"/>
              <a:t>Foreach</a:t>
            </a:r>
            <a:r>
              <a:rPr lang="zh-TW" altLang="en-US" dirty="0"/>
              <a:t>迴圈</a:t>
            </a:r>
            <a:endParaRPr lang="en-US" altLang="zh-TW" dirty="0"/>
          </a:p>
          <a:p>
            <a:r>
              <a:rPr lang="zh-TW" altLang="en-US" dirty="0"/>
              <a:t>深入陣列</a:t>
            </a:r>
            <a:endParaRPr lang="en-US" altLang="zh-TW" dirty="0"/>
          </a:p>
          <a:p>
            <a:pPr lvl="1"/>
            <a:r>
              <a:rPr lang="zh-TW" altLang="en-US" dirty="0"/>
              <a:t>記憶體中的陣列</a:t>
            </a:r>
            <a:endParaRPr lang="en-US" altLang="zh-TW" dirty="0"/>
          </a:p>
          <a:p>
            <a:pPr lvl="1"/>
            <a:r>
              <a:rPr lang="zh-TW" altLang="en-US" dirty="0"/>
              <a:t>基本類型陣列的初始化</a:t>
            </a:r>
            <a:endParaRPr lang="en-US" altLang="zh-TW" dirty="0"/>
          </a:p>
          <a:p>
            <a:pPr lvl="1"/>
            <a:r>
              <a:rPr lang="zh-TW" altLang="en-US" dirty="0"/>
              <a:t>參照類型陣列的初始化</a:t>
            </a:r>
            <a:endParaRPr lang="en-US" altLang="zh-TW" dirty="0"/>
          </a:p>
          <a:p>
            <a:pPr lvl="1"/>
            <a:r>
              <a:rPr lang="zh-TW" altLang="en-US" dirty="0"/>
              <a:t>多維陣列</a:t>
            </a:r>
            <a:endParaRPr lang="en-US" altLang="zh-TW" dirty="0"/>
          </a:p>
          <a:p>
            <a:pPr lvl="1"/>
            <a:r>
              <a:rPr lang="en-US" altLang="zh-TW" dirty="0"/>
              <a:t>JAVA8</a:t>
            </a:r>
            <a:r>
              <a:rPr lang="zh-TW" altLang="en-US" dirty="0"/>
              <a:t>的陣列工具</a:t>
            </a:r>
            <a:endParaRPr lang="en-US" altLang="zh-TW" dirty="0"/>
          </a:p>
          <a:p>
            <a:pPr lvl="1"/>
            <a:r>
              <a:rPr lang="zh-TW" altLang="en-US" dirty="0"/>
              <a:t>陣列的應用舉例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6540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F247B-63DC-BFF9-80B1-3BE5E4DE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順序結構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AC9D0-D140-D8DA-A397-97AC038AD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r>
              <a:rPr lang="zh-TW" altLang="en-US" dirty="0"/>
              <a:t>裡是一個順序執行的方式，從上到下依次執行每條程式碼</a:t>
            </a:r>
          </a:p>
        </p:txBody>
      </p:sp>
    </p:spTree>
    <p:extLst>
      <p:ext uri="{BB962C8B-B14F-4D97-AF65-F5344CB8AC3E}">
        <p14:creationId xmlns:p14="http://schemas.microsoft.com/office/powerpoint/2010/main" val="356648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6DD981-963A-529C-651D-1A69E02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分支結構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AB7F43-2D34-2055-DCA4-E0AB0220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條件語句</a:t>
            </a:r>
            <a:endParaRPr lang="en-US" altLang="zh-TW" dirty="0"/>
          </a:p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7342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EDBEA-7C6A-1FA2-5B17-89B64607E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B09DA3-0FF2-6404-E950-E0B51A34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If ( logic expression){ }</a:t>
            </a:r>
          </a:p>
          <a:p>
            <a:r>
              <a:rPr lang="en-US" altLang="zh-TW" dirty="0"/>
              <a:t>if ( logic expression){} else{}</a:t>
            </a:r>
          </a:p>
          <a:p>
            <a:r>
              <a:rPr lang="en-US" altLang="zh-TW" dirty="0"/>
              <a:t>If ( logic expression){} else if (logic expression) else if(logic expression) else{}</a:t>
            </a:r>
          </a:p>
          <a:p>
            <a:pPr lvl="1"/>
            <a:r>
              <a:rPr lang="en-US" altLang="zh-TW" dirty="0"/>
              <a:t>C41IfCase1</a:t>
            </a:r>
          </a:p>
          <a:p>
            <a:r>
              <a:rPr lang="zh-TW" altLang="en-US" dirty="0"/>
              <a:t>簡寫方式</a:t>
            </a:r>
            <a:endParaRPr lang="en-US" altLang="zh-TW" dirty="0"/>
          </a:p>
          <a:p>
            <a:pPr lvl="1"/>
            <a:r>
              <a:rPr lang="en-US" altLang="zh-TW" dirty="0"/>
              <a:t>C42IfCase2</a:t>
            </a:r>
          </a:p>
          <a:p>
            <a:r>
              <a:rPr lang="zh-TW" altLang="en-US" dirty="0"/>
              <a:t>邏輯錯誤寫法</a:t>
            </a:r>
            <a:endParaRPr lang="en-US" altLang="zh-TW" dirty="0"/>
          </a:p>
          <a:p>
            <a:pPr lvl="1"/>
            <a:r>
              <a:rPr lang="en-US" altLang="zh-TW" dirty="0" err="1"/>
              <a:t>IfErrorTest</a:t>
            </a:r>
            <a:endParaRPr lang="en-US" altLang="zh-TW" dirty="0"/>
          </a:p>
          <a:p>
            <a:pPr lvl="1"/>
            <a:r>
              <a:rPr lang="en-US" altLang="zh-TW" dirty="0"/>
              <a:t>IfErrorTest2</a:t>
            </a:r>
          </a:p>
          <a:p>
            <a:pPr lvl="1"/>
            <a:r>
              <a:rPr lang="en-US" altLang="zh-TW" dirty="0" err="1"/>
              <a:t>IfCorrectTest</a:t>
            </a:r>
            <a:endParaRPr lang="en-US" altLang="zh-TW" dirty="0"/>
          </a:p>
          <a:p>
            <a:pPr lvl="1"/>
            <a:r>
              <a:rPr lang="en-US" altLang="zh-TW" dirty="0"/>
              <a:t>IfCorrectTest2</a:t>
            </a:r>
          </a:p>
          <a:p>
            <a:r>
              <a:rPr lang="zh-TW" altLang="en-US" dirty="0"/>
              <a:t>撰寫</a:t>
            </a:r>
            <a:r>
              <a:rPr lang="en-US" altLang="zh-TW" dirty="0"/>
              <a:t>if else </a:t>
            </a:r>
            <a:r>
              <a:rPr lang="zh-TW" altLang="en-US" dirty="0"/>
              <a:t>時，一定要先處理範圍最小的情況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5665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B0DE39F-1025-A5EF-41DA-B5E427CF6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643" y="618518"/>
            <a:ext cx="6188402" cy="1478570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switch</a:t>
            </a:r>
            <a:r>
              <a:rPr lang="zh-TW" altLang="en-US" dirty="0">
                <a:solidFill>
                  <a:srgbClr val="FFFFFF"/>
                </a:solidFill>
              </a:rPr>
              <a:t>語句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579" y="808057"/>
            <a:ext cx="3821429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FA17F5-D36B-7797-1D04-2851808B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8643" y="2249487"/>
            <a:ext cx="6188402" cy="354171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expression:</a:t>
            </a:r>
            <a:r>
              <a:rPr lang="zh-TW" altLang="en-US" dirty="0">
                <a:solidFill>
                  <a:srgbClr val="FFFFFF"/>
                </a:solidFill>
              </a:rPr>
              <a:t> 要判斷的變數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 dirty="0">
                <a:solidFill>
                  <a:srgbClr val="FFFFFF"/>
                </a:solidFill>
              </a:rPr>
              <a:t>變數有可能的條件</a:t>
            </a:r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77BE77C6-D249-E3F1-B784-07833167F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76" y="1283682"/>
            <a:ext cx="3680265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35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FC91-4D7C-17BE-9A70-0FDE9BD71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F49B28-A1A0-78C4-DA0E-7D35B6BD3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E27C0D1-26BF-38DF-9B66-702EE7DB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C43SwitchCase1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76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31DBC-59D1-7AB9-8CB6-B1659539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pic>
        <p:nvPicPr>
          <p:cNvPr id="5" name="內容版面配置區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ECD85314-23AE-DF4A-1925-512B0A658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1" y="3189579"/>
            <a:ext cx="4689234" cy="166946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E39781-BC91-D4B3-64C2-7B50569D7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541714"/>
          </a:xfrm>
        </p:spPr>
        <p:txBody>
          <a:bodyPr>
            <a:normAutofit/>
          </a:bodyPr>
          <a:lstStyle/>
          <a:p>
            <a:r>
              <a:rPr lang="en-US" dirty="0" err="1"/>
              <a:t>Init_statement</a:t>
            </a:r>
            <a:r>
              <a:rPr lang="en-US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r>
              <a:rPr lang="en-US" dirty="0" err="1"/>
              <a:t>Test_expression</a:t>
            </a:r>
            <a:r>
              <a:rPr lang="en-US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0810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46117B-8188-B120-BE30-9428DC010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16E47-DA9C-0B94-C94E-D32A3EBD0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9067" y="2332614"/>
            <a:ext cx="9905999" cy="3541714"/>
          </a:xfrm>
        </p:spPr>
        <p:txBody>
          <a:bodyPr/>
          <a:lstStyle/>
          <a:p>
            <a:r>
              <a:rPr lang="en-US" altLang="zh-TW" dirty="0"/>
              <a:t>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6816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2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3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5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8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3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4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5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6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7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8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2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3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4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5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6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7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8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9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0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1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E808C8CC-2F56-D3B6-947B-B9190D142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zh-TW" altLang="en-US" sz="3600" dirty="0"/>
              <a:t>迴圈結構</a:t>
            </a:r>
            <a:r>
              <a:rPr lang="en-US" altLang="zh-TW" sz="3600" dirty="0"/>
              <a:t>-do-While</a:t>
            </a:r>
          </a:p>
        </p:txBody>
      </p:sp>
      <p:pic>
        <p:nvPicPr>
          <p:cNvPr id="12" name="圖片版面配置區 11">
            <a:extLst>
              <a:ext uri="{FF2B5EF4-FFF2-40B4-BE49-F238E27FC236}">
                <a16:creationId xmlns:a16="http://schemas.microsoft.com/office/drawing/2014/main" id="{950A518B-313F-C239-9C59-C580987F0D1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4"/>
          <a:srcRect r="10899" b="-1"/>
          <a:stretch>
            <a:fillRect/>
          </a:stretch>
        </p:blipFill>
        <p:spPr>
          <a:xfrm>
            <a:off x="1141412" y="2497720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64C42F2-6E67-639A-0DC8-BDA439889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04479" y="2249487"/>
            <a:ext cx="4844521" cy="35417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Init_statement:</a:t>
            </a:r>
            <a:r>
              <a:rPr lang="zh-TW" altLang="en-US"/>
              <a:t>設定一個參數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Test_expression:</a:t>
            </a:r>
            <a:r>
              <a:rPr lang="zh-TW" altLang="en-US"/>
              <a:t>將參數拿來做判斷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Iteration_statement: </a:t>
            </a:r>
            <a:r>
              <a:rPr lang="zh-TW" altLang="en-US"/>
              <a:t>將參數做變化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41553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C96CE-C7AD-366C-1F18-1369FE26A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88AB-AFF9-F69B-4568-AAEFD088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-do 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932B03-B473-A74B-2440-9575B5265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47105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9769A4-BF66-5C12-A846-28B74807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5FF7B57D-FF7B-48B3-9F60-9BCEEECF9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B95AFDF-FA7D-4311-9C65-6D507D92F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A5CCD98-20C1-4404-B788-FDA92F8A44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31" name="Rectangle 5">
                <a:extLst>
                  <a:ext uri="{FF2B5EF4-FFF2-40B4-BE49-F238E27FC236}">
                    <a16:creationId xmlns:a16="http://schemas.microsoft.com/office/drawing/2014/main" id="{C1424C76-B5C3-468E-86FA-8D9B269053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6">
                <a:extLst>
                  <a:ext uri="{FF2B5EF4-FFF2-40B4-BE49-F238E27FC236}">
                    <a16:creationId xmlns:a16="http://schemas.microsoft.com/office/drawing/2014/main" id="{B3922267-72C9-403B-A6DE-7D0A43D554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7">
                <a:extLst>
                  <a:ext uri="{FF2B5EF4-FFF2-40B4-BE49-F238E27FC236}">
                    <a16:creationId xmlns:a16="http://schemas.microsoft.com/office/drawing/2014/main" id="{7276DB68-2E8D-4723-852B-7476DD38FE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8">
                <a:extLst>
                  <a:ext uri="{FF2B5EF4-FFF2-40B4-BE49-F238E27FC236}">
                    <a16:creationId xmlns:a16="http://schemas.microsoft.com/office/drawing/2014/main" id="{0A155711-4993-4D1E-89EA-A397C164F0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9">
                <a:extLst>
                  <a:ext uri="{FF2B5EF4-FFF2-40B4-BE49-F238E27FC236}">
                    <a16:creationId xmlns:a16="http://schemas.microsoft.com/office/drawing/2014/main" id="{2AB42136-2551-4CAA-857F-65FA3247B4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0">
                <a:extLst>
                  <a:ext uri="{FF2B5EF4-FFF2-40B4-BE49-F238E27FC236}">
                    <a16:creationId xmlns:a16="http://schemas.microsoft.com/office/drawing/2014/main" id="{7C2ADEA1-EA3E-4C0E-A28E-460092F7FF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B04584B3-081C-4286-A840-AB5B16B10A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12">
                <a:extLst>
                  <a:ext uri="{FF2B5EF4-FFF2-40B4-BE49-F238E27FC236}">
                    <a16:creationId xmlns:a16="http://schemas.microsoft.com/office/drawing/2014/main" id="{3AB388FD-C246-4936-A041-E0413A132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3">
                <a:extLst>
                  <a:ext uri="{FF2B5EF4-FFF2-40B4-BE49-F238E27FC236}">
                    <a16:creationId xmlns:a16="http://schemas.microsoft.com/office/drawing/2014/main" id="{57692343-2D12-4F57-836C-945D407B6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4">
                <a:extLst>
                  <a:ext uri="{FF2B5EF4-FFF2-40B4-BE49-F238E27FC236}">
                    <a16:creationId xmlns:a16="http://schemas.microsoft.com/office/drawing/2014/main" id="{062EE710-0210-4840-8698-E0DF1C6170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5">
                <a:extLst>
                  <a:ext uri="{FF2B5EF4-FFF2-40B4-BE49-F238E27FC236}">
                    <a16:creationId xmlns:a16="http://schemas.microsoft.com/office/drawing/2014/main" id="{161892F4-6071-40CD-8E18-CDEE0C91B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Line 16">
                <a:extLst>
                  <a:ext uri="{FF2B5EF4-FFF2-40B4-BE49-F238E27FC236}">
                    <a16:creationId xmlns:a16="http://schemas.microsoft.com/office/drawing/2014/main" id="{3E6BBE44-8D88-407D-B1C6-10C89DD617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17">
                <a:extLst>
                  <a:ext uri="{FF2B5EF4-FFF2-40B4-BE49-F238E27FC236}">
                    <a16:creationId xmlns:a16="http://schemas.microsoft.com/office/drawing/2014/main" id="{1E90AE6E-328E-4730-825C-B5130F5CFC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18">
                <a:extLst>
                  <a:ext uri="{FF2B5EF4-FFF2-40B4-BE49-F238E27FC236}">
                    <a16:creationId xmlns:a16="http://schemas.microsoft.com/office/drawing/2014/main" id="{24EC969F-6E4A-4163-ABDA-4674429A3D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19">
                <a:extLst>
                  <a:ext uri="{FF2B5EF4-FFF2-40B4-BE49-F238E27FC236}">
                    <a16:creationId xmlns:a16="http://schemas.microsoft.com/office/drawing/2014/main" id="{1B735C94-B049-42C6-9DEF-5DB70D58C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0">
                <a:extLst>
                  <a:ext uri="{FF2B5EF4-FFF2-40B4-BE49-F238E27FC236}">
                    <a16:creationId xmlns:a16="http://schemas.microsoft.com/office/drawing/2014/main" id="{051C02E6-1954-478B-AEAE-BF8F36BE94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Rectangle 21">
                <a:extLst>
                  <a:ext uri="{FF2B5EF4-FFF2-40B4-BE49-F238E27FC236}">
                    <a16:creationId xmlns:a16="http://schemas.microsoft.com/office/drawing/2014/main" id="{6710B1C0-310A-48D0-B824-459D9AFC2F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2">
                <a:extLst>
                  <a:ext uri="{FF2B5EF4-FFF2-40B4-BE49-F238E27FC236}">
                    <a16:creationId xmlns:a16="http://schemas.microsoft.com/office/drawing/2014/main" id="{1204A606-D9A6-4DC6-9F0E-D516EA1EB9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3">
                <a:extLst>
                  <a:ext uri="{FF2B5EF4-FFF2-40B4-BE49-F238E27FC236}">
                    <a16:creationId xmlns:a16="http://schemas.microsoft.com/office/drawing/2014/main" id="{EE569555-0243-4979-A537-C9B4AFD5F2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4">
                <a:extLst>
                  <a:ext uri="{FF2B5EF4-FFF2-40B4-BE49-F238E27FC236}">
                    <a16:creationId xmlns:a16="http://schemas.microsoft.com/office/drawing/2014/main" id="{D52A977D-4993-48AF-A792-F2DE09639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5">
                <a:extLst>
                  <a:ext uri="{FF2B5EF4-FFF2-40B4-BE49-F238E27FC236}">
                    <a16:creationId xmlns:a16="http://schemas.microsoft.com/office/drawing/2014/main" id="{93CFF2DC-E52E-4D99-97D5-B0D7B792E5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26">
                <a:extLst>
                  <a:ext uri="{FF2B5EF4-FFF2-40B4-BE49-F238E27FC236}">
                    <a16:creationId xmlns:a16="http://schemas.microsoft.com/office/drawing/2014/main" id="{5E175372-AF09-42A7-B3D0-226C834891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27">
                <a:extLst>
                  <a:ext uri="{FF2B5EF4-FFF2-40B4-BE49-F238E27FC236}">
                    <a16:creationId xmlns:a16="http://schemas.microsoft.com/office/drawing/2014/main" id="{ABF20BA9-F4B2-49EA-A573-578B18977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4" name="Freeform 28">
                <a:extLst>
                  <a:ext uri="{FF2B5EF4-FFF2-40B4-BE49-F238E27FC236}">
                    <a16:creationId xmlns:a16="http://schemas.microsoft.com/office/drawing/2014/main" id="{AA3A7A4B-C811-4E23-8BFD-5823A032DA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5" name="Freeform 29">
                <a:extLst>
                  <a:ext uri="{FF2B5EF4-FFF2-40B4-BE49-F238E27FC236}">
                    <a16:creationId xmlns:a16="http://schemas.microsoft.com/office/drawing/2014/main" id="{47537781-F057-4B97-AD8F-12FE9BE599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6" name="Freeform 30">
                <a:extLst>
                  <a:ext uri="{FF2B5EF4-FFF2-40B4-BE49-F238E27FC236}">
                    <a16:creationId xmlns:a16="http://schemas.microsoft.com/office/drawing/2014/main" id="{078883C7-EB52-4BB7-A9A7-F8C046A833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7" name="Freeform 31">
                <a:extLst>
                  <a:ext uri="{FF2B5EF4-FFF2-40B4-BE49-F238E27FC236}">
                    <a16:creationId xmlns:a16="http://schemas.microsoft.com/office/drawing/2014/main" id="{63CCBBF8-5972-4ED3-AB5B-46DC425B17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8C19883-37FB-437C-A3AA-89AA6239D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Freeform 32">
                <a:extLst>
                  <a:ext uri="{FF2B5EF4-FFF2-40B4-BE49-F238E27FC236}">
                    <a16:creationId xmlns:a16="http://schemas.microsoft.com/office/drawing/2014/main" id="{AF1753DD-4CEF-45EC-B952-90EA8895D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3">
                <a:extLst>
                  <a:ext uri="{FF2B5EF4-FFF2-40B4-BE49-F238E27FC236}">
                    <a16:creationId xmlns:a16="http://schemas.microsoft.com/office/drawing/2014/main" id="{5B9356DB-C1BE-4D76-8FA7-4FBAA12D1D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4">
                <a:extLst>
                  <a:ext uri="{FF2B5EF4-FFF2-40B4-BE49-F238E27FC236}">
                    <a16:creationId xmlns:a16="http://schemas.microsoft.com/office/drawing/2014/main" id="{C4F59561-572D-42BA-A6FD-F3AFA1A394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5">
                <a:extLst>
                  <a:ext uri="{FF2B5EF4-FFF2-40B4-BE49-F238E27FC236}">
                    <a16:creationId xmlns:a16="http://schemas.microsoft.com/office/drawing/2014/main" id="{BB7A51A1-D509-4494-BAE2-1B96CAD4DB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36">
                <a:extLst>
                  <a:ext uri="{FF2B5EF4-FFF2-40B4-BE49-F238E27FC236}">
                    <a16:creationId xmlns:a16="http://schemas.microsoft.com/office/drawing/2014/main" id="{D3FE0B5A-55DE-4E56-8E9B-B92D1DB9A8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37">
                <a:extLst>
                  <a:ext uri="{FF2B5EF4-FFF2-40B4-BE49-F238E27FC236}">
                    <a16:creationId xmlns:a16="http://schemas.microsoft.com/office/drawing/2014/main" id="{F125661C-3A0E-4B6E-B2AB-1B08C89251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38">
                <a:extLst>
                  <a:ext uri="{FF2B5EF4-FFF2-40B4-BE49-F238E27FC236}">
                    <a16:creationId xmlns:a16="http://schemas.microsoft.com/office/drawing/2014/main" id="{39304006-EE77-438A-A0D1-537322356C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39">
                <a:extLst>
                  <a:ext uri="{FF2B5EF4-FFF2-40B4-BE49-F238E27FC236}">
                    <a16:creationId xmlns:a16="http://schemas.microsoft.com/office/drawing/2014/main" id="{C6031DEB-4109-4049-82CF-DD06483A2C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40">
                <a:extLst>
                  <a:ext uri="{FF2B5EF4-FFF2-40B4-BE49-F238E27FC236}">
                    <a16:creationId xmlns:a16="http://schemas.microsoft.com/office/drawing/2014/main" id="{65FC2657-18D6-4490-88D6-32E6B1C6FB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Rectangle 41">
                <a:extLst>
                  <a:ext uri="{FF2B5EF4-FFF2-40B4-BE49-F238E27FC236}">
                    <a16:creationId xmlns:a16="http://schemas.microsoft.com/office/drawing/2014/main" id="{20BEA03B-3EAD-4FA2-BC9D-25A14D635C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C8DCBDDD-C75B-219D-43F9-48A240746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z="3600" dirty="0"/>
              <a:t>迴圈結構</a:t>
            </a:r>
            <a:r>
              <a:rPr lang="en-US" altLang="zh-TW" sz="3600" dirty="0"/>
              <a:t>-FOR</a:t>
            </a:r>
            <a:endParaRPr lang="en-US" altLang="zh-TW" sz="3600"/>
          </a:p>
        </p:txBody>
      </p:sp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9BF48FAB-07E6-B525-E7F3-96E7A21D6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1" y="3508496"/>
            <a:ext cx="4689234" cy="103163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5C1A6E5-7B47-4870-6946-D4513E1C9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36727" y="2249487"/>
            <a:ext cx="4710683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Init_statement</a:t>
            </a:r>
            <a:r>
              <a:rPr lang="en-US" altLang="zh-TW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Test_expression</a:t>
            </a:r>
            <a:r>
              <a:rPr lang="en-US" altLang="zh-TW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28568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9A68-DA6D-E885-F205-6BBADE7F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7B01C-2102-7DA3-FBA7-78043175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-FOR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DD1B9-0B1F-A46C-2B7A-6430536B8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ForTest.java</a:t>
            </a:r>
          </a:p>
          <a:p>
            <a:r>
              <a:rPr lang="en-US" altLang="zh-TW" dirty="0"/>
              <a:t>ForTest2.java</a:t>
            </a:r>
          </a:p>
          <a:p>
            <a:r>
              <a:rPr lang="en-US" altLang="zh-TW" dirty="0" err="1"/>
              <a:t>ForErrorTest</a:t>
            </a:r>
            <a:endParaRPr lang="en-US" altLang="zh-TW" dirty="0"/>
          </a:p>
          <a:p>
            <a:r>
              <a:rPr lang="en-US" altLang="zh-TW" dirty="0" err="1"/>
              <a:t>DeadForTest</a:t>
            </a:r>
            <a:endParaRPr lang="en-US" altLang="zh-TW" dirty="0"/>
          </a:p>
          <a:p>
            <a:r>
              <a:rPr lang="en-US" altLang="zh-TW" dirty="0" err="1"/>
              <a:t>ForInsteadWhile</a:t>
            </a:r>
            <a:endParaRPr lang="en-US" altLang="zh-TW" dirty="0"/>
          </a:p>
          <a:p>
            <a:r>
              <a:rPr lang="en-US" altLang="zh-TW" dirty="0" err="1"/>
              <a:t>NestedLoopTest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9579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0F866B-AB3B-5CA8-BBA9-63235DD07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括號的用意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E7BE0B-E204-7278-D0C8-050DE3B0F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{}</a:t>
            </a:r>
            <a:r>
              <a:rPr lang="zh-TW" altLang="en-US" dirty="0"/>
              <a:t>、</a:t>
            </a:r>
            <a:r>
              <a:rPr lang="en-US" altLang="zh-TW" dirty="0"/>
              <a:t>()</a:t>
            </a:r>
          </a:p>
          <a:p>
            <a:r>
              <a:rPr lang="zh-TW" altLang="en-US" dirty="0"/>
              <a:t>變數的生命週期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7531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BACE0-77C9-6253-5710-6B440637E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控制迴圈結構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A9617D-5A79-D32E-53FF-EBDA19625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BreakTest</a:t>
            </a:r>
            <a:endParaRPr lang="en-US" altLang="zh-TW" dirty="0"/>
          </a:p>
          <a:p>
            <a:r>
              <a:rPr lang="en-US" altLang="zh-TW" dirty="0"/>
              <a:t>BreakTest2</a:t>
            </a:r>
          </a:p>
          <a:p>
            <a:r>
              <a:rPr lang="en-US" altLang="zh-TW" dirty="0" err="1"/>
              <a:t>ContinueTest</a:t>
            </a:r>
            <a:endParaRPr lang="en-US" altLang="zh-TW" dirty="0"/>
          </a:p>
          <a:p>
            <a:r>
              <a:rPr lang="en-US" altLang="zh-TW" dirty="0"/>
              <a:t>ContinueTest2</a:t>
            </a:r>
          </a:p>
          <a:p>
            <a:r>
              <a:rPr lang="en-US" altLang="zh-TW" dirty="0" err="1"/>
              <a:t>ReturnTest</a:t>
            </a: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4887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5A7B94-8001-6E99-67DF-F918C9DA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15D228-675F-41E1-6734-DF1811F4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541714"/>
          </a:xfrm>
        </p:spPr>
        <p:txBody>
          <a:bodyPr>
            <a:normAutofit fontScale="62500" lnSpcReduction="20000"/>
          </a:bodyPr>
          <a:lstStyle/>
          <a:p>
            <a:r>
              <a:rPr lang="zh-TW" altLang="en-US" dirty="0"/>
              <a:t>閏年判斷</a:t>
            </a:r>
            <a:endParaRPr lang="en-US" altLang="zh-TW" dirty="0"/>
          </a:p>
          <a:p>
            <a:pPr lvl="1"/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 </a:t>
            </a:r>
            <a:r>
              <a:rPr lang="zh-TW" altLang="en-US" dirty="0"/>
              <a:t>整除 </a:t>
            </a:r>
            <a:r>
              <a:rPr lang="zh-TW" altLang="en-US" b="1" dirty="0"/>
              <a:t>且</a:t>
            </a:r>
            <a:r>
              <a:rPr lang="zh-TW" altLang="en-US" dirty="0"/>
              <a:t> 不被 </a:t>
            </a:r>
            <a:r>
              <a:rPr lang="en-US" altLang="zh-TW" dirty="0"/>
              <a:t>100 </a:t>
            </a:r>
            <a:r>
              <a:rPr lang="zh-TW" altLang="en-US" dirty="0"/>
              <a:t>整除</a:t>
            </a:r>
            <a:r>
              <a:rPr lang="en-US" altLang="zh-TW" dirty="0"/>
              <a:t>) </a:t>
            </a:r>
            <a:r>
              <a:rPr lang="zh-TW" altLang="en-US" b="1" dirty="0"/>
              <a:t>或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400 </a:t>
            </a:r>
            <a:r>
              <a:rPr lang="zh-TW" altLang="en-US" dirty="0"/>
              <a:t>整除</a:t>
            </a:r>
            <a:r>
              <a:rPr lang="en-US" altLang="zh-TW" dirty="0"/>
              <a:t>)</a:t>
            </a:r>
            <a:r>
              <a:rPr lang="zh-TW" altLang="en-US" dirty="0"/>
              <a:t>。 </a:t>
            </a:r>
            <a:endParaRPr lang="en-US" altLang="zh-TW" dirty="0"/>
          </a:p>
          <a:p>
            <a:r>
              <a:rPr lang="zh-TW" altLang="en-US" dirty="0"/>
              <a:t>遊樂園門票檢查 </a:t>
            </a:r>
            <a:r>
              <a:rPr lang="en-US" altLang="zh-TW" dirty="0"/>
              <a:t>(Ticket Eligibility)</a:t>
            </a:r>
          </a:p>
          <a:p>
            <a:pPr lvl="1"/>
            <a:r>
              <a:rPr lang="zh-TW" altLang="en-US" dirty="0"/>
              <a:t>題目： 輸入年齡 </a:t>
            </a:r>
            <a:r>
              <a:rPr lang="en-US" altLang="zh-TW" dirty="0"/>
              <a:t>(age) </a:t>
            </a:r>
            <a:r>
              <a:rPr lang="zh-TW" altLang="en-US" dirty="0"/>
              <a:t>和身高 </a:t>
            </a:r>
            <a:r>
              <a:rPr lang="en-US" altLang="zh-TW" dirty="0"/>
              <a:t>(height)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dirty="0"/>
              <a:t>規則： 必須年滿 </a:t>
            </a:r>
            <a:r>
              <a:rPr lang="en-US" altLang="zh-TW" dirty="0"/>
              <a:t>12 </a:t>
            </a:r>
            <a:r>
              <a:rPr lang="zh-TW" altLang="en-US" dirty="0"/>
              <a:t>歲 或 身高超過 </a:t>
            </a:r>
            <a:r>
              <a:rPr lang="en-US" altLang="zh-TW" dirty="0"/>
              <a:t>140 </a:t>
            </a:r>
            <a:r>
              <a:rPr lang="zh-TW" altLang="en-US" dirty="0"/>
              <a:t>公分，且不可以超過 </a:t>
            </a:r>
            <a:r>
              <a:rPr lang="en-US" altLang="zh-TW" dirty="0"/>
              <a:t>65 </a:t>
            </a:r>
            <a:r>
              <a:rPr lang="zh-TW" altLang="en-US" dirty="0"/>
              <a:t>歲，才能玩雲霄飛車。</a:t>
            </a:r>
          </a:p>
          <a:p>
            <a:pPr lvl="1"/>
            <a:r>
              <a:rPr lang="zh-TW" altLang="en-US" dirty="0"/>
              <a:t>輸出： </a:t>
            </a:r>
            <a:r>
              <a:rPr lang="en-US" altLang="zh-TW" dirty="0"/>
              <a:t>Can Ride: true/false</a:t>
            </a:r>
          </a:p>
          <a:p>
            <a:r>
              <a:rPr lang="zh-TW" altLang="en-US" dirty="0"/>
              <a:t>數字特性分析 </a:t>
            </a:r>
            <a:r>
              <a:rPr lang="en-US" altLang="zh-TW" dirty="0"/>
              <a:t>(Number Analyzer)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輸入一個整數，分別印出以下判斷結果 </a:t>
            </a:r>
            <a:r>
              <a:rPr lang="en-US" altLang="zh-TW" dirty="0"/>
              <a:t>(true/false)</a:t>
            </a:r>
            <a:r>
              <a:rPr lang="zh-TW" altLang="en-US" dirty="0"/>
              <a:t>：</a:t>
            </a:r>
            <a:endParaRPr lang="en-US" altLang="zh-TW" dirty="0"/>
          </a:p>
          <a:p>
            <a:pPr lvl="2"/>
            <a:r>
              <a:rPr lang="zh-TW" altLang="en-US" dirty="0"/>
              <a:t>是偶數嗎？ </a:t>
            </a:r>
            <a:r>
              <a:rPr lang="en-US" altLang="zh-TW" dirty="0"/>
              <a:t>(num % 2 == 0)</a:t>
            </a:r>
          </a:p>
          <a:p>
            <a:pPr lvl="2"/>
            <a:r>
              <a:rPr lang="zh-TW" altLang="en-US" dirty="0"/>
              <a:t>是 </a:t>
            </a:r>
            <a:r>
              <a:rPr lang="en-US" altLang="zh-TW" dirty="0"/>
              <a:t>10 </a:t>
            </a:r>
            <a:r>
              <a:rPr lang="zh-TW" altLang="en-US" dirty="0"/>
              <a:t>的倍數嗎？</a:t>
            </a:r>
          </a:p>
          <a:p>
            <a:pPr lvl="2"/>
            <a:r>
              <a:rPr lang="zh-TW" altLang="en-US" dirty="0"/>
              <a:t>是正數嗎？</a:t>
            </a:r>
          </a:p>
          <a:p>
            <a:pPr lvl="2"/>
            <a:r>
              <a:rPr lang="zh-TW" altLang="en-US" dirty="0"/>
              <a:t>個位數是 </a:t>
            </a:r>
            <a:r>
              <a:rPr lang="en-US" altLang="zh-TW" dirty="0"/>
              <a:t>7 </a:t>
            </a:r>
            <a:r>
              <a:rPr lang="zh-TW" altLang="en-US" dirty="0"/>
              <a:t>嗎？ </a:t>
            </a:r>
            <a:r>
              <a:rPr lang="en-US" altLang="zh-TW" dirty="0"/>
              <a:t>(</a:t>
            </a:r>
            <a:r>
              <a:rPr lang="en-US" altLang="zh-TW" dirty="0" err="1"/>
              <a:t>Math.abs</a:t>
            </a:r>
            <a:r>
              <a:rPr lang="en-US" altLang="zh-TW" dirty="0"/>
              <a:t>(num) % 10 == 7)</a:t>
            </a:r>
          </a:p>
        </p:txBody>
      </p:sp>
    </p:spTree>
    <p:extLst>
      <p:ext uri="{BB962C8B-B14F-4D97-AF65-F5344CB8AC3E}">
        <p14:creationId xmlns:p14="http://schemas.microsoft.com/office/powerpoint/2010/main" val="3258814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98A053-CC70-765A-4207-EDC804997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178F36-35AD-F485-69C5-593A060B6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小費分配器 </a:t>
            </a:r>
            <a:r>
              <a:rPr lang="en-US" altLang="zh-TW" dirty="0"/>
              <a:t>(Bill Splitter)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輸入帳單總金額、小費百分比、分攤人數。</a:t>
            </a:r>
            <a:endParaRPr lang="en-US" altLang="zh-TW" dirty="0"/>
          </a:p>
          <a:p>
            <a:pPr lvl="2"/>
            <a:r>
              <a:rPr lang="zh-TW" altLang="en-US" dirty="0"/>
              <a:t>輸出：</a:t>
            </a:r>
          </a:p>
          <a:p>
            <a:pPr lvl="2"/>
            <a:r>
              <a:rPr lang="zh-TW" altLang="en-US" dirty="0"/>
              <a:t>    小費總額。</a:t>
            </a:r>
          </a:p>
          <a:p>
            <a:pPr lvl="2"/>
            <a:r>
              <a:rPr lang="zh-TW" altLang="en-US" dirty="0"/>
              <a:t>    帳單總額 </a:t>
            </a:r>
            <a:r>
              <a:rPr lang="en-US" altLang="zh-TW" dirty="0"/>
              <a:t>(</a:t>
            </a:r>
            <a:r>
              <a:rPr lang="zh-TW" altLang="en-US" dirty="0"/>
              <a:t>含小費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每個人應該付多少錢 </a:t>
            </a:r>
            <a:r>
              <a:rPr lang="en-US" altLang="zh-TW" dirty="0"/>
              <a:t>(</a:t>
            </a:r>
            <a:r>
              <a:rPr lang="zh-TW" altLang="en-US" dirty="0"/>
              <a:t>取整數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由最後一個人付剩下的零頭 </a:t>
            </a:r>
            <a:r>
              <a:rPr lang="en-US" altLang="zh-TW" dirty="0"/>
              <a:t>(</a:t>
            </a:r>
            <a:r>
              <a:rPr lang="zh-TW" altLang="en-US" dirty="0"/>
              <a:t>這是重點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情境： 帳單 </a:t>
            </a:r>
            <a:r>
              <a:rPr lang="en-US" altLang="zh-TW" dirty="0"/>
              <a:t>100 </a:t>
            </a:r>
            <a:r>
              <a:rPr lang="zh-TW" altLang="en-US" dirty="0"/>
              <a:t>元，</a:t>
            </a:r>
            <a:r>
              <a:rPr lang="en-US" altLang="zh-TW" dirty="0"/>
              <a:t>3</a:t>
            </a:r>
            <a:r>
              <a:rPr lang="zh-TW" altLang="en-US" dirty="0"/>
              <a:t>人分。前兩人付 </a:t>
            </a:r>
            <a:r>
              <a:rPr lang="en-US" altLang="zh-TW" dirty="0"/>
              <a:t>33</a:t>
            </a:r>
            <a:r>
              <a:rPr lang="zh-TW" altLang="en-US" dirty="0"/>
              <a:t>，最後一人付 </a:t>
            </a:r>
            <a:r>
              <a:rPr lang="en-US" altLang="zh-TW" dirty="0"/>
              <a:t>34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4980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82BCA4-8199-342C-15B7-FC96A47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初級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66BBF2-555B-8DA6-BC4F-C989A278F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Fizz Buzz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#2413 - Smallest Even Multiple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#1281 - Subtract the Product and Sum of Digits of an Integer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#231 - Power of Two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47907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B268A-6EFA-69C5-12F1-23330C3C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中級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7A74E-5F69-4A0B-0FC4-F69781130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LeetCode</a:t>
            </a:r>
            <a:r>
              <a:rPr lang="en-US" altLang="zh-TW" dirty="0"/>
              <a:t> #9 - Palindrome Number (</a:t>
            </a:r>
            <a:r>
              <a:rPr lang="zh-TW" altLang="en-US" dirty="0"/>
              <a:t>回文數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判斷一個整數是否是回文（正讀反讀一樣，如 </a:t>
            </a:r>
            <a:r>
              <a:rPr lang="en-US" altLang="zh-TW" dirty="0"/>
              <a:t>121</a:t>
            </a:r>
            <a:r>
              <a:rPr lang="zh-TW" altLang="en-US" dirty="0"/>
              <a:t>）。</a:t>
            </a:r>
            <a:r>
              <a:rPr lang="zh-TW" altLang="en-US" b="1" dirty="0"/>
              <a:t>限制：不將整數轉為字串。</a:t>
            </a:r>
            <a:endParaRPr lang="en-US" altLang="zh-TW" b="1" dirty="0"/>
          </a:p>
          <a:p>
            <a:pPr lvl="1"/>
            <a:r>
              <a:rPr lang="pt-BR" altLang="zh-TW" dirty="0"/>
              <a:t>reversedNum = reversedNum * 10 + x % 10</a:t>
            </a:r>
          </a:p>
          <a:p>
            <a:r>
              <a:rPr lang="en-US" altLang="zh-TW" b="1" dirty="0" err="1"/>
              <a:t>LeetCode</a:t>
            </a:r>
            <a:r>
              <a:rPr lang="en-US" altLang="zh-TW" b="1" dirty="0"/>
              <a:t> #509 - Fibonacci Number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計算費氏數列的第 </a:t>
            </a:r>
            <a:r>
              <a:rPr lang="en-US" altLang="zh-TW" dirty="0"/>
              <a:t>N </a:t>
            </a:r>
            <a:r>
              <a:rPr lang="zh-TW" altLang="en-US" dirty="0"/>
              <a:t>項。</a:t>
            </a:r>
            <a:endParaRPr lang="en-US" altLang="zh-TW" dirty="0"/>
          </a:p>
          <a:p>
            <a:pPr lvl="1"/>
            <a:r>
              <a:rPr lang="zh-TW" altLang="en-US" dirty="0"/>
              <a:t>要求用 </a:t>
            </a:r>
            <a:r>
              <a:rPr lang="en-US" altLang="zh-TW" dirty="0"/>
              <a:t>for </a:t>
            </a:r>
            <a:r>
              <a:rPr lang="zh-TW" altLang="en-US" dirty="0"/>
              <a:t>迴圈從 </a:t>
            </a:r>
            <a:r>
              <a:rPr lang="en-US" altLang="zh-TW" dirty="0"/>
              <a:t>0 </a:t>
            </a:r>
            <a:r>
              <a:rPr lang="zh-TW" altLang="en-US" dirty="0"/>
              <a:t>累加到 </a:t>
            </a:r>
            <a:r>
              <a:rPr lang="en-US" altLang="zh-TW" dirty="0"/>
              <a:t>N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44774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C20F8A-C3F0-F767-EAB1-3C58CD53A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003034-B468-DAEE-8B43-45FBEC860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/>
              <a:t>陣列是一種由相同型態的資料組成的資料結構。</a:t>
            </a:r>
          </a:p>
          <a:p>
            <a:r>
              <a:rPr lang="zh-TW" altLang="en-US" dirty="0"/>
              <a:t>陣列在記憶體中使用連續的記憶體空間，透過索引值</a:t>
            </a:r>
            <a:r>
              <a:rPr lang="en-US" altLang="zh-TW" dirty="0"/>
              <a:t>(index)</a:t>
            </a:r>
            <a:r>
              <a:rPr lang="zh-TW" altLang="en-US" dirty="0"/>
              <a:t>來做資料的存取。</a:t>
            </a:r>
          </a:p>
          <a:p>
            <a:r>
              <a:rPr lang="zh-TW" altLang="en-US" dirty="0"/>
              <a:t>陣列在</a:t>
            </a:r>
            <a:r>
              <a:rPr lang="en-US" altLang="zh-TW" dirty="0"/>
              <a:t>Java</a:t>
            </a:r>
            <a:r>
              <a:rPr lang="zh-TW" altLang="en-US" dirty="0"/>
              <a:t>裡是以物件</a:t>
            </a:r>
            <a:r>
              <a:rPr lang="en-US" altLang="zh-TW" dirty="0"/>
              <a:t>(object)</a:t>
            </a:r>
            <a:r>
              <a:rPr lang="zh-TW" altLang="en-US" dirty="0"/>
              <a:t>的方式存在，所以陣列本身是參考資料型態</a:t>
            </a:r>
            <a:r>
              <a:rPr lang="en-US" altLang="zh-TW" dirty="0"/>
              <a:t>(reference type)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陣列中的元素可以是基本資料型態</a:t>
            </a:r>
            <a:r>
              <a:rPr lang="en-US" altLang="zh-TW" dirty="0"/>
              <a:t>(primitive type)</a:t>
            </a:r>
            <a:r>
              <a:rPr lang="zh-TW" altLang="en-US" dirty="0"/>
              <a:t>也可以是參考資料型態</a:t>
            </a:r>
            <a:r>
              <a:rPr lang="en-US" altLang="zh-TW" dirty="0"/>
              <a:t>(reference type)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9118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3EF762-B4D5-3176-CE6D-4BCEE923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21033E-405E-332B-C23F-0035BC7FE5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1575" y="2249488"/>
            <a:ext cx="5705675" cy="3541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030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22C45-DCC9-10E2-3489-138502AE6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宣告方式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8CA5E6-8E3B-AF5B-C7D4-D294797FD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資料型態</a:t>
            </a:r>
            <a:r>
              <a:rPr lang="en-US" altLang="zh-TW" dirty="0"/>
              <a:t>[]</a:t>
            </a:r>
            <a:r>
              <a:rPr lang="zh-TW" altLang="en-US" dirty="0"/>
              <a:t> 陣列名稱</a:t>
            </a:r>
            <a:r>
              <a:rPr lang="en-US" altLang="zh-TW" dirty="0"/>
              <a:t>;</a:t>
            </a:r>
            <a:r>
              <a:rPr lang="zh-TW" altLang="en-US" dirty="0"/>
              <a:t>  </a:t>
            </a:r>
            <a:endParaRPr lang="en-US" altLang="zh-TW" dirty="0"/>
          </a:p>
          <a:p>
            <a:r>
              <a:rPr lang="zh-TW" altLang="en-US" dirty="0"/>
              <a:t>陣列名稱＝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數量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r>
              <a:rPr lang="zh-TW" altLang="en-US" dirty="0"/>
              <a:t>資料型態</a:t>
            </a:r>
            <a:r>
              <a:rPr lang="en-US" altLang="zh-TW" dirty="0"/>
              <a:t>[]</a:t>
            </a:r>
            <a:r>
              <a:rPr lang="zh-TW" altLang="en-US" dirty="0"/>
              <a:t> 陣列名稱＝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數量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11" name="圖片 10" descr="一張含有 字型, 時鐘, 印刷術, 設計 的圖片&#10;&#10;AI 產生的內容可能不正確。">
            <a:extLst>
              <a:ext uri="{FF2B5EF4-FFF2-40B4-BE49-F238E27FC236}">
                <a16:creationId xmlns:a16="http://schemas.microsoft.com/office/drawing/2014/main" id="{814C33DF-EFEE-AD8A-829E-0D06D245A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854" y="4608313"/>
            <a:ext cx="2924583" cy="800212"/>
          </a:xfrm>
          <a:prstGeom prst="rect">
            <a:avLst/>
          </a:prstGeom>
        </p:spPr>
      </p:pic>
      <p:pic>
        <p:nvPicPr>
          <p:cNvPr id="13" name="圖片 12" descr="一張含有 時鐘, 螢幕擷取畫面, 字型, 文字 的圖片&#10;&#10;AI 產生的內容可能不正確。">
            <a:extLst>
              <a:ext uri="{FF2B5EF4-FFF2-40B4-BE49-F238E27FC236}">
                <a16:creationId xmlns:a16="http://schemas.microsoft.com/office/drawing/2014/main" id="{1B50A7A7-9192-E497-E3E2-7ECB5BE66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854" y="2302953"/>
            <a:ext cx="2934109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437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954C83-9C7C-F3D9-8A82-78D087BF1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0CE027-0F9A-FFCE-242B-53EE669A7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靜態初始化：指定每個陣列元素的初始值，由系統決定陣列長度。</a:t>
            </a:r>
          </a:p>
          <a:p>
            <a:r>
              <a:rPr lang="zh-TW" altLang="en-US" dirty="0"/>
              <a:t>陣列名稱 ＝ 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[]{</a:t>
            </a:r>
            <a:r>
              <a:rPr lang="zh-TW" altLang="en-US" dirty="0"/>
              <a:t>元素</a:t>
            </a:r>
            <a:r>
              <a:rPr lang="en-US" altLang="zh-TW" dirty="0"/>
              <a:t>1,</a:t>
            </a:r>
            <a:r>
              <a:rPr lang="zh-TW" altLang="en-US" dirty="0"/>
              <a:t>元素</a:t>
            </a:r>
            <a:r>
              <a:rPr lang="en-US" altLang="zh-TW" dirty="0"/>
              <a:t>2,</a:t>
            </a:r>
            <a:r>
              <a:rPr lang="zh-TW" altLang="en-US" dirty="0"/>
              <a:t>元素</a:t>
            </a:r>
            <a:r>
              <a:rPr lang="en-US" altLang="zh-TW" dirty="0"/>
              <a:t>3....};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en-US" dirty="0"/>
              <a:t>資料型態</a:t>
            </a:r>
            <a:r>
              <a:rPr lang="en-US" altLang="zh-TW" dirty="0"/>
              <a:t>[] </a:t>
            </a:r>
            <a:r>
              <a:rPr lang="zh-TW" altLang="en-US" dirty="0"/>
              <a:t>陣列名稱 ＝ </a:t>
            </a:r>
            <a:r>
              <a:rPr lang="en-US" altLang="zh-TW" dirty="0"/>
              <a:t>{</a:t>
            </a:r>
            <a:r>
              <a:rPr lang="zh-TW" altLang="en-US" dirty="0"/>
              <a:t>元素</a:t>
            </a:r>
            <a:r>
              <a:rPr lang="en-US" altLang="zh-TW" dirty="0"/>
              <a:t>1,</a:t>
            </a:r>
            <a:r>
              <a:rPr lang="zh-TW" altLang="en-US" dirty="0"/>
              <a:t>元素</a:t>
            </a:r>
            <a:r>
              <a:rPr lang="en-US" altLang="zh-TW" dirty="0"/>
              <a:t>2,</a:t>
            </a:r>
            <a:r>
              <a:rPr lang="zh-TW" altLang="en-US" dirty="0"/>
              <a:t>元素</a:t>
            </a:r>
            <a:r>
              <a:rPr lang="en-US" altLang="zh-TW" dirty="0"/>
              <a:t>3....};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5" name="圖片 4" descr="一張含有 字型, 文字, 螢幕擷取畫面 的圖片">
            <a:extLst>
              <a:ext uri="{FF2B5EF4-FFF2-40B4-BE49-F238E27FC236}">
                <a16:creationId xmlns:a16="http://schemas.microsoft.com/office/drawing/2014/main" id="{7344A9AC-4896-0A9A-8FD3-77D323FA6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332" y="3429000"/>
            <a:ext cx="6344535" cy="1467055"/>
          </a:xfrm>
          <a:prstGeom prst="rect">
            <a:avLst/>
          </a:prstGeom>
        </p:spPr>
      </p:pic>
      <p:pic>
        <p:nvPicPr>
          <p:cNvPr id="9" name="圖片 8" descr="一張含有 文字, 字型, 螢幕擷取畫面, 時鐘 的圖片">
            <a:extLst>
              <a:ext uri="{FF2B5EF4-FFF2-40B4-BE49-F238E27FC236}">
                <a16:creationId xmlns:a16="http://schemas.microsoft.com/office/drawing/2014/main" id="{6B89FD01-3E9B-A9ED-8862-55C010446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296" y="5571986"/>
            <a:ext cx="4287559" cy="121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426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BBADD0-C0F7-58F1-7B6C-1031F0EF8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B87C5E-2480-B688-0854-1532D14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動態初始化：只指定陣列長度，由系統為陣列元素分配初始值</a:t>
            </a:r>
            <a:endParaRPr lang="en-US" altLang="zh-TW" dirty="0"/>
          </a:p>
          <a:p>
            <a:r>
              <a:rPr lang="zh-TW" altLang="en-US" dirty="0"/>
              <a:t>陣列名稱 ＝ 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長度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請勿將靜態與動態初始化混在一起使用</a:t>
            </a:r>
            <a:endParaRPr lang="en-US" altLang="zh-TW" dirty="0"/>
          </a:p>
          <a:p>
            <a:r>
              <a:rPr lang="en-US" altLang="zh-TW" dirty="0"/>
              <a:t>Sample:Array1.java</a:t>
            </a:r>
            <a:endParaRPr lang="zh-TW" altLang="en-US" dirty="0"/>
          </a:p>
        </p:txBody>
      </p:sp>
      <p:pic>
        <p:nvPicPr>
          <p:cNvPr id="5" name="圖片 4" descr="一張含有 時鐘, 文字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BD8337CD-C849-598F-8486-99FA2AFE7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308" y="3710738"/>
            <a:ext cx="327705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31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16BD10-9D64-8D49-3740-FDD031EA5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b="1" dirty="0"/>
              <a:t>存取陣列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14F182B-DAD1-410B-A9B8-10FB358F6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陣列第</a:t>
            </a:r>
            <a:r>
              <a:rPr lang="en-US" altLang="zh-TW" dirty="0"/>
              <a:t>”1”</a:t>
            </a:r>
            <a:r>
              <a:rPr lang="zh-TW" altLang="en-US" dirty="0"/>
              <a:t>個元素是從</a:t>
            </a:r>
            <a:r>
              <a:rPr lang="en-US" altLang="zh-TW" dirty="0"/>
              <a:t>”0”</a:t>
            </a:r>
            <a:r>
              <a:rPr lang="zh-TW" altLang="en-US" dirty="0"/>
              <a:t>開始</a:t>
            </a:r>
            <a:endParaRPr lang="en-US" altLang="zh-TW" dirty="0"/>
          </a:p>
          <a:p>
            <a:r>
              <a:rPr lang="en-US" altLang="zh-TW" dirty="0"/>
              <a:t>Sample: Array2.java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916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5A70A5-4AEE-4509-A4DB-38ECA291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-for &amp; </a:t>
            </a:r>
            <a:r>
              <a:rPr lang="en-US" altLang="zh-TW" dirty="0" err="1"/>
              <a:t>forEach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352B26-6F89-555C-E7EF-5F460EDB1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for</a:t>
            </a:r>
            <a:r>
              <a:rPr lang="zh-TW" altLang="en-US" dirty="0"/>
              <a:t>迴圈輸出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使用</a:t>
            </a:r>
            <a:r>
              <a:rPr lang="en-US" altLang="zh-TW" dirty="0"/>
              <a:t>foreach</a:t>
            </a:r>
            <a:r>
              <a:rPr lang="zh-TW" altLang="en-US" dirty="0"/>
              <a:t>迴圈輸出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Sample: Array3.java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60866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207AE4-D13D-20E9-D1E7-09893D21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陣列與記憶體位置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9A5E47-DC65-EB3B-B1D5-C96804758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https://ithelp.ithome.com.tw/articles/10330736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21811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D96F3F-3A86-C0DA-5FCE-008EF400D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陣列工具</a:t>
            </a:r>
            <a:r>
              <a:rPr lang="en-US" altLang="zh-TW" dirty="0"/>
              <a:t>-arrays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08B91F-B801-8622-6D6A-C9F8106D2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ArrayTest</a:t>
            </a:r>
            <a:endParaRPr lang="en-US" altLang="zh-TW" dirty="0"/>
          </a:p>
          <a:p>
            <a:r>
              <a:rPr lang="en-US" altLang="zh-TW" dirty="0"/>
              <a:t>ArrayTest2</a:t>
            </a:r>
          </a:p>
          <a:p>
            <a:r>
              <a:rPr lang="en-US" altLang="zh-TW" dirty="0"/>
              <a:t>Num2Ntd</a:t>
            </a:r>
          </a:p>
          <a:p>
            <a:r>
              <a:rPr lang="en-US" altLang="zh-TW"/>
              <a:t>GoBang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88523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4C0279-E06F-6972-607A-1D46D79B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Home-work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1D6E07E-E32F-1861-0DE0-3E3DF86A6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/>
              <a:t>使用迴圈輸出等腰三角形，例如輸入</a:t>
            </a:r>
            <a:r>
              <a:rPr lang="en-US" altLang="zh-TW" dirty="0"/>
              <a:t>4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撰寫一個程式將浮點數數字轉成中文讀法</a:t>
            </a:r>
            <a:endParaRPr lang="en-US" altLang="zh-TW" dirty="0"/>
          </a:p>
          <a:p>
            <a:r>
              <a:rPr lang="zh-TW" altLang="en-US" dirty="0"/>
              <a:t>寫一個五子棋遊戲</a:t>
            </a:r>
            <a:endParaRPr lang="en-US" altLang="zh-TW" dirty="0"/>
          </a:p>
          <a:p>
            <a:r>
              <a:rPr lang="zh-TW" altLang="en-US" dirty="0"/>
              <a:t>寫一個</a:t>
            </a:r>
            <a:r>
              <a:rPr lang="en-US" altLang="zh-TW" dirty="0"/>
              <a:t>OX</a:t>
            </a:r>
            <a:r>
              <a:rPr lang="zh-TW" altLang="en-US" dirty="0"/>
              <a:t>遊戲</a:t>
            </a:r>
            <a:endParaRPr lang="en-US" altLang="zh-TW" dirty="0"/>
          </a:p>
        </p:txBody>
      </p:sp>
      <p:pic>
        <p:nvPicPr>
          <p:cNvPr id="5" name="圖片 4" descr="一張含有 螢幕擷取畫面, Rectangle, 行, 設計 的圖片&#10;&#10;AI 產生的內容可能不正確。">
            <a:extLst>
              <a:ext uri="{FF2B5EF4-FFF2-40B4-BE49-F238E27FC236}">
                <a16:creationId xmlns:a16="http://schemas.microsoft.com/office/drawing/2014/main" id="{8E3D9291-4EBD-275D-1F65-EA79F6CCB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588" y="2738341"/>
            <a:ext cx="1238423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997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0.0.7308"/>
  <p:tag name="SLIDO_PRESENTATION_ID" val="1389e01e-d4fe-453f-9e2d-b1196a6a09d4"/>
  <p:tag name="SLIDO_EVENT_UUID" val="9c25e807-8834-4b5e-9fd7-425dc8402dc5"/>
  <p:tag name="SLIDO_EVENT_SECTION_UUID" val="183f31fc-00a2-422d-939e-2cda7ba4a873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2126</TotalTime>
  <Words>968</Words>
  <Application>Microsoft Office PowerPoint</Application>
  <PresentationFormat>寬螢幕</PresentationFormat>
  <Paragraphs>176</Paragraphs>
  <Slides>31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5" baseType="lpstr">
      <vt:lpstr>Aptos</vt:lpstr>
      <vt:lpstr>Arial</vt:lpstr>
      <vt:lpstr>Tw Cen MT</vt:lpstr>
      <vt:lpstr>電路</vt:lpstr>
      <vt:lpstr>JAVA</vt:lpstr>
      <vt:lpstr>可以匿名提問</vt:lpstr>
      <vt:lpstr>流程控制</vt:lpstr>
      <vt:lpstr>陣列</vt:lpstr>
      <vt:lpstr>順序結構</vt:lpstr>
      <vt:lpstr>分支結構</vt:lpstr>
      <vt:lpstr>IF條件式</vt:lpstr>
      <vt:lpstr>switch語句</vt:lpstr>
      <vt:lpstr>switch語句</vt:lpstr>
      <vt:lpstr>迴圈結構-While</vt:lpstr>
      <vt:lpstr>迴圈結構-While</vt:lpstr>
      <vt:lpstr>迴圈結構-do-While</vt:lpstr>
      <vt:lpstr>迴圈結構-do While</vt:lpstr>
      <vt:lpstr>迴圈結構-FOR</vt:lpstr>
      <vt:lpstr>迴圈結構-FOR</vt:lpstr>
      <vt:lpstr>括號的用意</vt:lpstr>
      <vt:lpstr>控制迴圈結構</vt:lpstr>
      <vt:lpstr>題目</vt:lpstr>
      <vt:lpstr>題目</vt:lpstr>
      <vt:lpstr>題目-初級</vt:lpstr>
      <vt:lpstr>題目-中級</vt:lpstr>
      <vt:lpstr>陣列</vt:lpstr>
      <vt:lpstr>陣列</vt:lpstr>
      <vt:lpstr>陣列-宣告方式</vt:lpstr>
      <vt:lpstr>陣列-初始化</vt:lpstr>
      <vt:lpstr>陣列-初始化</vt:lpstr>
      <vt:lpstr>陣列-存取陣列</vt:lpstr>
      <vt:lpstr>陣列-for &amp; forEach</vt:lpstr>
      <vt:lpstr>陣列與記憶體位置</vt:lpstr>
      <vt:lpstr>陣列工具-arrays</vt:lpstr>
      <vt:lpstr>Home-work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52</cp:revision>
  <dcterms:created xsi:type="dcterms:W3CDTF">2026-01-18T05:44:44Z</dcterms:created>
  <dcterms:modified xsi:type="dcterms:W3CDTF">2026-02-03T13:35:18Z</dcterms:modified>
</cp:coreProperties>
</file>