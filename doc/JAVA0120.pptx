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8"/>
  </p:notesMasterIdLst>
  <p:sldIdLst>
    <p:sldId id="256" r:id="rId2"/>
    <p:sldId id="28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58" r:id="rId11"/>
    <p:sldId id="267" r:id="rId12"/>
    <p:sldId id="268" r:id="rId13"/>
    <p:sldId id="265" r:id="rId14"/>
    <p:sldId id="269" r:id="rId15"/>
    <p:sldId id="266" r:id="rId16"/>
    <p:sldId id="289" r:id="rId17"/>
    <p:sldId id="275" r:id="rId18"/>
    <p:sldId id="270" r:id="rId19"/>
    <p:sldId id="271" r:id="rId20"/>
    <p:sldId id="272" r:id="rId21"/>
    <p:sldId id="277" r:id="rId22"/>
    <p:sldId id="290" r:id="rId23"/>
    <p:sldId id="273" r:id="rId24"/>
    <p:sldId id="274" r:id="rId25"/>
    <p:sldId id="280" r:id="rId26"/>
    <p:sldId id="278" r:id="rId27"/>
    <p:sldId id="279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</p:sldIdLst>
  <p:sldSz cx="12192000" cy="6858000"/>
  <p:notesSz cx="6858000" cy="9144000"/>
  <p:custDataLst>
    <p:tags r:id="rId4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dex" id="{3C7A6D6A-4F97-4ABF-B4C3-49655D4ECA8F}">
          <p14:sldIdLst>
            <p14:sldId id="256"/>
            <p14:sldId id="288"/>
          </p14:sldIdLst>
        </p14:section>
        <p14:section name="c1" id="{89B54168-D4C1-48AF-8E74-56E9753F2111}">
          <p14:sldIdLst>
            <p14:sldId id="259"/>
            <p14:sldId id="260"/>
            <p14:sldId id="257"/>
            <p14:sldId id="261"/>
            <p14:sldId id="262"/>
            <p14:sldId id="263"/>
            <p14:sldId id="264"/>
            <p14:sldId id="258"/>
            <p14:sldId id="267"/>
            <p14:sldId id="268"/>
            <p14:sldId id="265"/>
            <p14:sldId id="269"/>
            <p14:sldId id="266"/>
            <p14:sldId id="289"/>
          </p14:sldIdLst>
        </p14:section>
        <p14:section name="c2" id="{6376616F-3444-4B9E-99F4-6AA5D4B2C917}">
          <p14:sldIdLst>
            <p14:sldId id="275"/>
            <p14:sldId id="270"/>
            <p14:sldId id="271"/>
            <p14:sldId id="272"/>
            <p14:sldId id="277"/>
            <p14:sldId id="290"/>
            <p14:sldId id="273"/>
            <p14:sldId id="274"/>
            <p14:sldId id="280"/>
            <p14:sldId id="278"/>
            <p14:sldId id="279"/>
            <p14:sldId id="281"/>
            <p14:sldId id="282"/>
            <p14:sldId id="283"/>
            <p14:sldId id="284"/>
            <p14:sldId id="285"/>
            <p14:sldId id="286"/>
            <p14:sldId id="287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30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5810C-07F1-44AE-9494-72A7A2980C1F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075AC-DAE8-4641-B57E-2153F538AA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774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075AC-DAE8-4641-B57E-2153F538AA22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53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zh.wikipedia.org/zh-tw/Java%E7%89%88%E6%9C%AC%E6%AD%B7%E5%8F%B2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jdk.java.net/25/" TargetMode="External"/><Relationship Id="rId2" Type="http://schemas.openxmlformats.org/officeDocument/2006/relationships/hyperlink" Target="https://www.oracle.com/tw/java/technologies/downloads/#jdk25-window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5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1.sv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5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1.sv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13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10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5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1.sv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13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D5E51B-E62C-7367-1E2F-2A69853387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JAVA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D413E57-165C-5999-6063-9D211CBE7B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4439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6C4E2D-BD2A-8986-C629-3BD2196B9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zh-TW" altLang="en-US"/>
              <a:t>可以匿名提問</a:t>
            </a:r>
            <a:endParaRPr lang="zh-TW" altLang="en-US" dirty="0"/>
          </a:p>
        </p:txBody>
      </p:sp>
      <p:pic>
        <p:nvPicPr>
          <p:cNvPr id="7" name="內容版面配置區 6" descr="一張含有 樣式, 對稱, 正方形, 藝術 的圖片&#10;&#10;AI 產生的內容可能不正確。">
            <a:extLst>
              <a:ext uri="{FF2B5EF4-FFF2-40B4-BE49-F238E27FC236}">
                <a16:creationId xmlns:a16="http://schemas.microsoft.com/office/drawing/2014/main" id="{77C15611-81ED-6E56-D476-70CD46E6B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1" y="2277013"/>
            <a:ext cx="3494597" cy="349459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385B030-BD59-65CC-7156-BC0C3E082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4579" y="2249487"/>
            <a:ext cx="6012832" cy="3541714"/>
          </a:xfrm>
        </p:spPr>
        <p:txBody>
          <a:bodyPr>
            <a:normAutofit/>
          </a:bodyPr>
          <a:lstStyle/>
          <a:p>
            <a:r>
              <a:rPr lang="en-US" dirty="0"/>
              <a:t>https://app.sli.do/event/khm5ksUhnd4EgrPem8KPrp</a:t>
            </a:r>
          </a:p>
        </p:txBody>
      </p:sp>
    </p:spTree>
    <p:extLst>
      <p:ext uri="{BB962C8B-B14F-4D97-AF65-F5344CB8AC3E}">
        <p14:creationId xmlns:p14="http://schemas.microsoft.com/office/powerpoint/2010/main" val="3886173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944DB6-BBAC-CB6A-A298-3CC64F6FE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JAVA</a:t>
            </a:r>
            <a:r>
              <a:rPr lang="zh-TW" altLang="en-US" dirty="0"/>
              <a:t> 歷史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44512712-6CEE-10AA-5D4D-D0D10C588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https://zh.wikipedia.org/zh-tw/Java%E7%89%88%E6%9C%AC%E6%AD%B7%E5%8F%B2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4433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AA97C6-B98D-719B-6956-3DD190C59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JAVA</a:t>
            </a:r>
            <a:r>
              <a:rPr lang="zh-TW" altLang="en-US" dirty="0"/>
              <a:t>名詞解釋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274680-8247-F2A4-5F87-B95029426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b="1" dirty="0"/>
              <a:t>JVM</a:t>
            </a:r>
            <a:br>
              <a:rPr lang="en-US" altLang="zh-TW" b="1" dirty="0"/>
            </a:br>
            <a:r>
              <a:rPr lang="en-US" altLang="zh-TW" b="1" dirty="0"/>
              <a:t>	</a:t>
            </a:r>
            <a:r>
              <a:rPr lang="en-US" altLang="zh-TW" dirty="0"/>
              <a:t>JVM </a:t>
            </a:r>
            <a:r>
              <a:rPr lang="zh-TW" altLang="en-US" dirty="0"/>
              <a:t>全名為 </a:t>
            </a:r>
            <a:r>
              <a:rPr lang="en-US" altLang="zh-TW" dirty="0"/>
              <a:t>Java Virtual Machine (</a:t>
            </a:r>
            <a:r>
              <a:rPr lang="en-US" altLang="zh-TW" b="1" dirty="0"/>
              <a:t>Java</a:t>
            </a:r>
            <a:r>
              <a:rPr lang="zh-TW" altLang="en-US" b="1" dirty="0"/>
              <a:t>虛擬機器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JRE</a:t>
            </a:r>
          </a:p>
          <a:p>
            <a:pPr marL="0" indent="0">
              <a:buNone/>
            </a:pPr>
            <a:r>
              <a:rPr lang="en-US" altLang="zh-TW" dirty="0"/>
              <a:t>	JRE</a:t>
            </a:r>
            <a:r>
              <a:rPr lang="zh-TW" altLang="en-US" dirty="0"/>
              <a:t>全名為</a:t>
            </a:r>
            <a:r>
              <a:rPr lang="en-US" altLang="zh-TW" dirty="0"/>
              <a:t>Java Runtime Environment </a:t>
            </a:r>
            <a:r>
              <a:rPr lang="zh-TW" altLang="en-US" dirty="0"/>
              <a:t>就是</a:t>
            </a:r>
            <a:r>
              <a:rPr lang="en-US" altLang="zh-TW" dirty="0"/>
              <a:t>Java</a:t>
            </a:r>
            <a:r>
              <a:rPr lang="zh-TW" altLang="en-US" dirty="0"/>
              <a:t>執行環境，是運行</a:t>
            </a:r>
            <a:r>
              <a:rPr lang="en-US" altLang="zh-TW" dirty="0"/>
              <a:t>Java</a:t>
            </a:r>
            <a:r>
              <a:rPr lang="zh-TW" altLang="en-US" dirty="0"/>
              <a:t>程式的必要條件</a:t>
            </a:r>
            <a:br>
              <a:rPr lang="en-US" altLang="zh-TW" dirty="0"/>
            </a:br>
            <a:r>
              <a:rPr lang="zh-TW" altLang="en-US" dirty="0"/>
              <a:t>內部有一個</a:t>
            </a:r>
            <a:r>
              <a:rPr lang="en-US" altLang="zh-TW" dirty="0"/>
              <a:t>Java</a:t>
            </a:r>
            <a:r>
              <a:rPr lang="zh-TW" altLang="en-US" dirty="0"/>
              <a:t>虛擬機器（</a:t>
            </a:r>
            <a:r>
              <a:rPr lang="en-US" altLang="zh-TW" dirty="0"/>
              <a:t>Java Virtual Machine-JVM</a:t>
            </a:r>
            <a:r>
              <a:rPr lang="zh-TW" altLang="en-US" dirty="0"/>
              <a:t>）以及一些標準的類別函數庫（</a:t>
            </a:r>
            <a:r>
              <a:rPr lang="en-US" altLang="zh-TW" dirty="0"/>
              <a:t>Class Library)</a:t>
            </a:r>
          </a:p>
          <a:p>
            <a:r>
              <a:rPr lang="en-US" altLang="zh-TW" b="1" dirty="0"/>
              <a:t>JDK</a:t>
            </a:r>
            <a:br>
              <a:rPr lang="en-US" altLang="zh-TW" b="1" dirty="0"/>
            </a:br>
            <a:r>
              <a:rPr lang="en-US" altLang="zh-TW" b="1" dirty="0"/>
              <a:t>	</a:t>
            </a:r>
            <a:r>
              <a:rPr lang="en-US" altLang="zh-TW" dirty="0"/>
              <a:t>JDK</a:t>
            </a:r>
            <a:r>
              <a:rPr lang="zh-TW" altLang="en-US" dirty="0"/>
              <a:t>全名為 </a:t>
            </a:r>
            <a:r>
              <a:rPr lang="en-US" altLang="zh-TW" dirty="0"/>
              <a:t>Java SE Development Kit </a:t>
            </a:r>
            <a:r>
              <a:rPr lang="zh-TW" altLang="en-US" dirty="0"/>
              <a:t>就是</a:t>
            </a:r>
            <a:r>
              <a:rPr lang="en-US" altLang="zh-TW" dirty="0"/>
              <a:t>Java</a:t>
            </a:r>
            <a:r>
              <a:rPr lang="zh-TW" altLang="en-US" dirty="0"/>
              <a:t>標準版的開發套件</a:t>
            </a:r>
          </a:p>
          <a:p>
            <a:pPr marL="0" indent="0">
              <a:buNone/>
            </a:pPr>
            <a:r>
              <a:rPr lang="zh-TW" altLang="en-US" dirty="0"/>
              <a:t>提供編譯、運行</a:t>
            </a:r>
            <a:r>
              <a:rPr lang="en-US" altLang="zh-TW" dirty="0"/>
              <a:t>Java</a:t>
            </a:r>
            <a:r>
              <a:rPr lang="zh-TW" altLang="en-US" dirty="0"/>
              <a:t>程式所需的各種工具和資源，包括</a:t>
            </a:r>
            <a:r>
              <a:rPr lang="en-US" altLang="zh-TW" dirty="0"/>
              <a:t>Java </a:t>
            </a:r>
            <a:r>
              <a:rPr lang="zh-TW" altLang="en-US" dirty="0"/>
              <a:t>編譯器、</a:t>
            </a:r>
            <a:r>
              <a:rPr lang="en-US" altLang="zh-TW" dirty="0"/>
              <a:t>Java</a:t>
            </a:r>
            <a:r>
              <a:rPr lang="zh-TW" altLang="en-US" dirty="0"/>
              <a:t>執行環境，及常用</a:t>
            </a:r>
            <a:r>
              <a:rPr lang="en-US" altLang="zh-TW" dirty="0"/>
              <a:t>Java</a:t>
            </a:r>
            <a:r>
              <a:rPr lang="zh-TW" altLang="en-US" dirty="0"/>
              <a:t>的類別庫等。</a:t>
            </a:r>
          </a:p>
          <a:p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103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2056">
            <a:extLst>
              <a:ext uri="{FF2B5EF4-FFF2-40B4-BE49-F238E27FC236}">
                <a16:creationId xmlns:a16="http://schemas.microsoft.com/office/drawing/2014/main" id="{3CBA50DB-DBC7-4B6E-B3C1-8FF1EA519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1DED8FB6-AF8D-4D98-913D-E6486FEC1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2060" name="Group 2059">
              <a:extLst>
                <a:ext uri="{FF2B5EF4-FFF2-40B4-BE49-F238E27FC236}">
                  <a16:creationId xmlns:a16="http://schemas.microsoft.com/office/drawing/2014/main" id="{0A805ED2-113B-4584-8827-567B5792F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072" name="Rectangle 5">
                <a:extLst>
                  <a:ext uri="{FF2B5EF4-FFF2-40B4-BE49-F238E27FC236}">
                    <a16:creationId xmlns:a16="http://schemas.microsoft.com/office/drawing/2014/main" id="{C6CF21D8-CC72-4F35-A29E-3AF9E6DA1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3" name="Freeform 6">
                <a:extLst>
                  <a:ext uri="{FF2B5EF4-FFF2-40B4-BE49-F238E27FC236}">
                    <a16:creationId xmlns:a16="http://schemas.microsoft.com/office/drawing/2014/main" id="{8E60A7C3-087D-47B4-AB5A-C8B1042FD2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4" name="Freeform 7">
                <a:extLst>
                  <a:ext uri="{FF2B5EF4-FFF2-40B4-BE49-F238E27FC236}">
                    <a16:creationId xmlns:a16="http://schemas.microsoft.com/office/drawing/2014/main" id="{1885EECE-F6D9-4128-BC90-01583BF269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5" name="Freeform 8">
                <a:extLst>
                  <a:ext uri="{FF2B5EF4-FFF2-40B4-BE49-F238E27FC236}">
                    <a16:creationId xmlns:a16="http://schemas.microsoft.com/office/drawing/2014/main" id="{F44AA128-AA96-4FF2-A1C3-F9D2E7FD38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6" name="Freeform 9">
                <a:extLst>
                  <a:ext uri="{FF2B5EF4-FFF2-40B4-BE49-F238E27FC236}">
                    <a16:creationId xmlns:a16="http://schemas.microsoft.com/office/drawing/2014/main" id="{7E52DC12-230B-4892-B284-F2FE9DE16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7" name="Freeform 10">
                <a:extLst>
                  <a:ext uri="{FF2B5EF4-FFF2-40B4-BE49-F238E27FC236}">
                    <a16:creationId xmlns:a16="http://schemas.microsoft.com/office/drawing/2014/main" id="{A68FBF9E-B81A-41D0-8A03-6CFC30811D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8" name="Freeform 11">
                <a:extLst>
                  <a:ext uri="{FF2B5EF4-FFF2-40B4-BE49-F238E27FC236}">
                    <a16:creationId xmlns:a16="http://schemas.microsoft.com/office/drawing/2014/main" id="{B0047F84-8480-494F-9241-39FF17CFF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9" name="Freeform 12">
                <a:extLst>
                  <a:ext uri="{FF2B5EF4-FFF2-40B4-BE49-F238E27FC236}">
                    <a16:creationId xmlns:a16="http://schemas.microsoft.com/office/drawing/2014/main" id="{8CAF76D8-4B95-4A8E-9EE5-8CCC0A7AD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0" name="Freeform 13">
                <a:extLst>
                  <a:ext uri="{FF2B5EF4-FFF2-40B4-BE49-F238E27FC236}">
                    <a16:creationId xmlns:a16="http://schemas.microsoft.com/office/drawing/2014/main" id="{792F82F3-05A8-4A55-8C5B-81F6678B59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1" name="Freeform 14">
                <a:extLst>
                  <a:ext uri="{FF2B5EF4-FFF2-40B4-BE49-F238E27FC236}">
                    <a16:creationId xmlns:a16="http://schemas.microsoft.com/office/drawing/2014/main" id="{B8472536-021A-4E59-BD59-DDC090A18A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2" name="Freeform 15">
                <a:extLst>
                  <a:ext uri="{FF2B5EF4-FFF2-40B4-BE49-F238E27FC236}">
                    <a16:creationId xmlns:a16="http://schemas.microsoft.com/office/drawing/2014/main" id="{AEBEF646-3C12-469F-B194-A161A7A95D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3" name="Line 16">
                <a:extLst>
                  <a:ext uri="{FF2B5EF4-FFF2-40B4-BE49-F238E27FC236}">
                    <a16:creationId xmlns:a16="http://schemas.microsoft.com/office/drawing/2014/main" id="{D4501159-D7AC-4307-9DFC-C8F3A94341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4" name="Freeform 17">
                <a:extLst>
                  <a:ext uri="{FF2B5EF4-FFF2-40B4-BE49-F238E27FC236}">
                    <a16:creationId xmlns:a16="http://schemas.microsoft.com/office/drawing/2014/main" id="{B5244C41-454C-47D8-A6A9-C17EC2A366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5" name="Freeform 18">
                <a:extLst>
                  <a:ext uri="{FF2B5EF4-FFF2-40B4-BE49-F238E27FC236}">
                    <a16:creationId xmlns:a16="http://schemas.microsoft.com/office/drawing/2014/main" id="{8FA883B8-99FB-4540-B573-F0674BFB1C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6" name="Freeform 19">
                <a:extLst>
                  <a:ext uri="{FF2B5EF4-FFF2-40B4-BE49-F238E27FC236}">
                    <a16:creationId xmlns:a16="http://schemas.microsoft.com/office/drawing/2014/main" id="{F1178B7C-5A00-4E5B-9010-B1477621E0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7" name="Freeform 20">
                <a:extLst>
                  <a:ext uri="{FF2B5EF4-FFF2-40B4-BE49-F238E27FC236}">
                    <a16:creationId xmlns:a16="http://schemas.microsoft.com/office/drawing/2014/main" id="{E359D5D8-EE2E-4714-A40A-C3A6D91F98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8" name="Rectangle 21">
                <a:extLst>
                  <a:ext uri="{FF2B5EF4-FFF2-40B4-BE49-F238E27FC236}">
                    <a16:creationId xmlns:a16="http://schemas.microsoft.com/office/drawing/2014/main" id="{8A89C2E5-F892-4666-85FB-995578FBC7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9" name="Freeform 22">
                <a:extLst>
                  <a:ext uri="{FF2B5EF4-FFF2-40B4-BE49-F238E27FC236}">
                    <a16:creationId xmlns:a16="http://schemas.microsoft.com/office/drawing/2014/main" id="{6DC6174B-0EC3-4A81-A0D1-D10DBB869A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0" name="Freeform 23">
                <a:extLst>
                  <a:ext uri="{FF2B5EF4-FFF2-40B4-BE49-F238E27FC236}">
                    <a16:creationId xmlns:a16="http://schemas.microsoft.com/office/drawing/2014/main" id="{2CB96070-0553-4F79-984C-8DABB1CD5D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1" name="Freeform 24">
                <a:extLst>
                  <a:ext uri="{FF2B5EF4-FFF2-40B4-BE49-F238E27FC236}">
                    <a16:creationId xmlns:a16="http://schemas.microsoft.com/office/drawing/2014/main" id="{BA23B6E2-3718-4009-B80E-9279154B1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2" name="Freeform 25">
                <a:extLst>
                  <a:ext uri="{FF2B5EF4-FFF2-40B4-BE49-F238E27FC236}">
                    <a16:creationId xmlns:a16="http://schemas.microsoft.com/office/drawing/2014/main" id="{CAFB32D5-E528-419B-80EE-1475633970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3" name="Freeform 26">
                <a:extLst>
                  <a:ext uri="{FF2B5EF4-FFF2-40B4-BE49-F238E27FC236}">
                    <a16:creationId xmlns:a16="http://schemas.microsoft.com/office/drawing/2014/main" id="{A68ADD35-4FEA-404D-B2F3-23556E6E8F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4" name="Freeform 27">
                <a:extLst>
                  <a:ext uri="{FF2B5EF4-FFF2-40B4-BE49-F238E27FC236}">
                    <a16:creationId xmlns:a16="http://schemas.microsoft.com/office/drawing/2014/main" id="{89CF17CA-49E3-4B4A-836A-4FD55C67BE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5" name="Freeform 28">
                <a:extLst>
                  <a:ext uri="{FF2B5EF4-FFF2-40B4-BE49-F238E27FC236}">
                    <a16:creationId xmlns:a16="http://schemas.microsoft.com/office/drawing/2014/main" id="{AB394F2E-F3E7-4CED-84A9-35C47AB287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6" name="Freeform 29">
                <a:extLst>
                  <a:ext uri="{FF2B5EF4-FFF2-40B4-BE49-F238E27FC236}">
                    <a16:creationId xmlns:a16="http://schemas.microsoft.com/office/drawing/2014/main" id="{FF816C2F-3999-4A9F-8395-5D68ED33A4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7" name="Freeform 30">
                <a:extLst>
                  <a:ext uri="{FF2B5EF4-FFF2-40B4-BE49-F238E27FC236}">
                    <a16:creationId xmlns:a16="http://schemas.microsoft.com/office/drawing/2014/main" id="{82AD6AC6-71D5-4BD8-9185-D3062968B5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8" name="Freeform 31">
                <a:extLst>
                  <a:ext uri="{FF2B5EF4-FFF2-40B4-BE49-F238E27FC236}">
                    <a16:creationId xmlns:a16="http://schemas.microsoft.com/office/drawing/2014/main" id="{743A50C2-65CF-4F4C-B412-6149A93AC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2061" name="Group 2060">
              <a:extLst>
                <a:ext uri="{FF2B5EF4-FFF2-40B4-BE49-F238E27FC236}">
                  <a16:creationId xmlns:a16="http://schemas.microsoft.com/office/drawing/2014/main" id="{6C0E7A88-FEDF-4C4F-A6B4-F7DDE9DE92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062" name="Freeform 32">
                <a:extLst>
                  <a:ext uri="{FF2B5EF4-FFF2-40B4-BE49-F238E27FC236}">
                    <a16:creationId xmlns:a16="http://schemas.microsoft.com/office/drawing/2014/main" id="{AE94B3EE-D5C0-4BDE-B6AA-7599F0486E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63" name="Freeform 33">
                <a:extLst>
                  <a:ext uri="{FF2B5EF4-FFF2-40B4-BE49-F238E27FC236}">
                    <a16:creationId xmlns:a16="http://schemas.microsoft.com/office/drawing/2014/main" id="{5EF110E8-C00D-454E-8F3A-ECF2D35667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64" name="Freeform 34">
                <a:extLst>
                  <a:ext uri="{FF2B5EF4-FFF2-40B4-BE49-F238E27FC236}">
                    <a16:creationId xmlns:a16="http://schemas.microsoft.com/office/drawing/2014/main" id="{BFC5F327-6927-4F35-9AF6-C45527BB45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65" name="Freeform 35">
                <a:extLst>
                  <a:ext uri="{FF2B5EF4-FFF2-40B4-BE49-F238E27FC236}">
                    <a16:creationId xmlns:a16="http://schemas.microsoft.com/office/drawing/2014/main" id="{BF2D314D-AEDE-418D-9702-D3CDB98C3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66" name="Freeform 36">
                <a:extLst>
                  <a:ext uri="{FF2B5EF4-FFF2-40B4-BE49-F238E27FC236}">
                    <a16:creationId xmlns:a16="http://schemas.microsoft.com/office/drawing/2014/main" id="{64FD07F8-3CA6-4209-9A9E-30609FE9A3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67" name="Freeform 37">
                <a:extLst>
                  <a:ext uri="{FF2B5EF4-FFF2-40B4-BE49-F238E27FC236}">
                    <a16:creationId xmlns:a16="http://schemas.microsoft.com/office/drawing/2014/main" id="{AB0AE24D-CD49-4B57-82E0-780F62AE4F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68" name="Freeform 38">
                <a:extLst>
                  <a:ext uri="{FF2B5EF4-FFF2-40B4-BE49-F238E27FC236}">
                    <a16:creationId xmlns:a16="http://schemas.microsoft.com/office/drawing/2014/main" id="{66803AF8-6368-45E6-A0B7-C0C4CFFEEB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69" name="Freeform 39">
                <a:extLst>
                  <a:ext uri="{FF2B5EF4-FFF2-40B4-BE49-F238E27FC236}">
                    <a16:creationId xmlns:a16="http://schemas.microsoft.com/office/drawing/2014/main" id="{B4761E05-2792-472B-A814-9616151CF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0" name="Freeform 40">
                <a:extLst>
                  <a:ext uri="{FF2B5EF4-FFF2-40B4-BE49-F238E27FC236}">
                    <a16:creationId xmlns:a16="http://schemas.microsoft.com/office/drawing/2014/main" id="{40B6A261-9427-4E70-9564-048AD009BD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1" name="Rectangle 41">
                <a:extLst>
                  <a:ext uri="{FF2B5EF4-FFF2-40B4-BE49-F238E27FC236}">
                    <a16:creationId xmlns:a16="http://schemas.microsoft.com/office/drawing/2014/main" id="{68BFDFBE-2286-4123-9436-E1DF84AF49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pic>
        <p:nvPicPr>
          <p:cNvPr id="2100" name="Picture 2">
            <a:extLst>
              <a:ext uri="{FF2B5EF4-FFF2-40B4-BE49-F238E27FC236}">
                <a16:creationId xmlns:a16="http://schemas.microsoft.com/office/drawing/2014/main" id="{5B3DE270-418F-47A7-B311-C4D876041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F5681A5-7B95-10EC-50B4-98ECA983F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anchor="b">
            <a:normAutofit/>
          </a:bodyPr>
          <a:lstStyle/>
          <a:p>
            <a:r>
              <a:rPr lang="zh-TW" altLang="en-US" sz="2800">
                <a:solidFill>
                  <a:srgbClr val="FFFFFF"/>
                </a:solidFill>
              </a:rPr>
              <a:t>程式運行機制</a:t>
            </a:r>
          </a:p>
        </p:txBody>
      </p:sp>
      <p:sp useBgFill="1">
        <p:nvSpPr>
          <p:cNvPr id="2102" name="Round Diagonal Corner Rectangle 11">
            <a:extLst>
              <a:ext uri="{FF2B5EF4-FFF2-40B4-BE49-F238E27FC236}">
                <a16:creationId xmlns:a16="http://schemas.microsoft.com/office/drawing/2014/main" id="{A1351C6B-7343-451F-AB4A-1CE294A4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一張含有 文字, 圖表, 字型, 方案 的圖片&#10;&#10;AI 產生的內容可能不正確。">
            <a:extLst>
              <a:ext uri="{FF2B5EF4-FFF2-40B4-BE49-F238E27FC236}">
                <a16:creationId xmlns:a16="http://schemas.microsoft.com/office/drawing/2014/main" id="{6B1BA997-0185-9E9C-8FC4-00BCD4DAB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988" y="1989860"/>
            <a:ext cx="6112382" cy="287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5F08B19A-0ED1-A73B-2FF4-2B2AB1261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041" y="2249487"/>
            <a:ext cx="3281004" cy="3541714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C、C++、</a:t>
            </a:r>
            <a:r>
              <a:rPr lang="en-US" sz="1800" dirty="0" err="1">
                <a:solidFill>
                  <a:srgbClr val="FFFFFF"/>
                </a:solidFill>
              </a:rPr>
              <a:t>Objective-C、Swift</a:t>
            </a:r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565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23DADF-24F9-244E-8169-254E9033E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9" name="Rectangle 3078">
            <a:extLst>
              <a:ext uri="{FF2B5EF4-FFF2-40B4-BE49-F238E27FC236}">
                <a16:creationId xmlns:a16="http://schemas.microsoft.com/office/drawing/2014/main" id="{3CBA50DB-DBC7-4B6E-B3C1-8FF1EA519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00" name="Group 3080">
            <a:extLst>
              <a:ext uri="{FF2B5EF4-FFF2-40B4-BE49-F238E27FC236}">
                <a16:creationId xmlns:a16="http://schemas.microsoft.com/office/drawing/2014/main" id="{1DED8FB6-AF8D-4D98-913D-E6486FEC1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3201" name="Group 3081">
              <a:extLst>
                <a:ext uri="{FF2B5EF4-FFF2-40B4-BE49-F238E27FC236}">
                  <a16:creationId xmlns:a16="http://schemas.microsoft.com/office/drawing/2014/main" id="{0A805ED2-113B-4584-8827-567B5792F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3202" name="Rectangle 5">
                <a:extLst>
                  <a:ext uri="{FF2B5EF4-FFF2-40B4-BE49-F238E27FC236}">
                    <a16:creationId xmlns:a16="http://schemas.microsoft.com/office/drawing/2014/main" id="{C6CF21D8-CC72-4F35-A29E-3AF9E6DA1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03" name="Freeform 6">
                <a:extLst>
                  <a:ext uri="{FF2B5EF4-FFF2-40B4-BE49-F238E27FC236}">
                    <a16:creationId xmlns:a16="http://schemas.microsoft.com/office/drawing/2014/main" id="{8E60A7C3-087D-47B4-AB5A-C8B1042FD2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04" name="Freeform 7">
                <a:extLst>
                  <a:ext uri="{FF2B5EF4-FFF2-40B4-BE49-F238E27FC236}">
                    <a16:creationId xmlns:a16="http://schemas.microsoft.com/office/drawing/2014/main" id="{1885EECE-F6D9-4128-BC90-01583BF269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05" name="Freeform 8">
                <a:extLst>
                  <a:ext uri="{FF2B5EF4-FFF2-40B4-BE49-F238E27FC236}">
                    <a16:creationId xmlns:a16="http://schemas.microsoft.com/office/drawing/2014/main" id="{F44AA128-AA96-4FF2-A1C3-F9D2E7FD38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06" name="Freeform 9">
                <a:extLst>
                  <a:ext uri="{FF2B5EF4-FFF2-40B4-BE49-F238E27FC236}">
                    <a16:creationId xmlns:a16="http://schemas.microsoft.com/office/drawing/2014/main" id="{7E52DC12-230B-4892-B284-F2FE9DE16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07" name="Freeform 10">
                <a:extLst>
                  <a:ext uri="{FF2B5EF4-FFF2-40B4-BE49-F238E27FC236}">
                    <a16:creationId xmlns:a16="http://schemas.microsoft.com/office/drawing/2014/main" id="{A68FBF9E-B81A-41D0-8A03-6CFC30811D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08" name="Freeform 11">
                <a:extLst>
                  <a:ext uri="{FF2B5EF4-FFF2-40B4-BE49-F238E27FC236}">
                    <a16:creationId xmlns:a16="http://schemas.microsoft.com/office/drawing/2014/main" id="{B0047F84-8480-494F-9241-39FF17CFF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09" name="Freeform 12">
                <a:extLst>
                  <a:ext uri="{FF2B5EF4-FFF2-40B4-BE49-F238E27FC236}">
                    <a16:creationId xmlns:a16="http://schemas.microsoft.com/office/drawing/2014/main" id="{8CAF76D8-4B95-4A8E-9EE5-8CCC0A7AD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10" name="Freeform 13">
                <a:extLst>
                  <a:ext uri="{FF2B5EF4-FFF2-40B4-BE49-F238E27FC236}">
                    <a16:creationId xmlns:a16="http://schemas.microsoft.com/office/drawing/2014/main" id="{792F82F3-05A8-4A55-8C5B-81F6678B59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11" name="Freeform 14">
                <a:extLst>
                  <a:ext uri="{FF2B5EF4-FFF2-40B4-BE49-F238E27FC236}">
                    <a16:creationId xmlns:a16="http://schemas.microsoft.com/office/drawing/2014/main" id="{B8472536-021A-4E59-BD59-DDC090A18A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12" name="Freeform 15">
                <a:extLst>
                  <a:ext uri="{FF2B5EF4-FFF2-40B4-BE49-F238E27FC236}">
                    <a16:creationId xmlns:a16="http://schemas.microsoft.com/office/drawing/2014/main" id="{AEBEF646-3C12-469F-B194-A161A7A95D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13" name="Line 16">
                <a:extLst>
                  <a:ext uri="{FF2B5EF4-FFF2-40B4-BE49-F238E27FC236}">
                    <a16:creationId xmlns:a16="http://schemas.microsoft.com/office/drawing/2014/main" id="{D4501159-D7AC-4307-9DFC-C8F3A94341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14" name="Freeform 17">
                <a:extLst>
                  <a:ext uri="{FF2B5EF4-FFF2-40B4-BE49-F238E27FC236}">
                    <a16:creationId xmlns:a16="http://schemas.microsoft.com/office/drawing/2014/main" id="{B5244C41-454C-47D8-A6A9-C17EC2A366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15" name="Freeform 18">
                <a:extLst>
                  <a:ext uri="{FF2B5EF4-FFF2-40B4-BE49-F238E27FC236}">
                    <a16:creationId xmlns:a16="http://schemas.microsoft.com/office/drawing/2014/main" id="{8FA883B8-99FB-4540-B573-F0674BFB1C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16" name="Freeform 19">
                <a:extLst>
                  <a:ext uri="{FF2B5EF4-FFF2-40B4-BE49-F238E27FC236}">
                    <a16:creationId xmlns:a16="http://schemas.microsoft.com/office/drawing/2014/main" id="{F1178B7C-5A00-4E5B-9010-B1477621E0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17" name="Freeform 20">
                <a:extLst>
                  <a:ext uri="{FF2B5EF4-FFF2-40B4-BE49-F238E27FC236}">
                    <a16:creationId xmlns:a16="http://schemas.microsoft.com/office/drawing/2014/main" id="{E359D5D8-EE2E-4714-A40A-C3A6D91F98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18" name="Rectangle 21">
                <a:extLst>
                  <a:ext uri="{FF2B5EF4-FFF2-40B4-BE49-F238E27FC236}">
                    <a16:creationId xmlns:a16="http://schemas.microsoft.com/office/drawing/2014/main" id="{8A89C2E5-F892-4666-85FB-995578FBC7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19" name="Freeform 22">
                <a:extLst>
                  <a:ext uri="{FF2B5EF4-FFF2-40B4-BE49-F238E27FC236}">
                    <a16:creationId xmlns:a16="http://schemas.microsoft.com/office/drawing/2014/main" id="{6DC6174B-0EC3-4A81-A0D1-D10DBB869A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20" name="Freeform 23">
                <a:extLst>
                  <a:ext uri="{FF2B5EF4-FFF2-40B4-BE49-F238E27FC236}">
                    <a16:creationId xmlns:a16="http://schemas.microsoft.com/office/drawing/2014/main" id="{2CB96070-0553-4F79-984C-8DABB1CD5D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21" name="Freeform 24">
                <a:extLst>
                  <a:ext uri="{FF2B5EF4-FFF2-40B4-BE49-F238E27FC236}">
                    <a16:creationId xmlns:a16="http://schemas.microsoft.com/office/drawing/2014/main" id="{BA23B6E2-3718-4009-B80E-9279154B1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22" name="Freeform 25">
                <a:extLst>
                  <a:ext uri="{FF2B5EF4-FFF2-40B4-BE49-F238E27FC236}">
                    <a16:creationId xmlns:a16="http://schemas.microsoft.com/office/drawing/2014/main" id="{CAFB32D5-E528-419B-80EE-1475633970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23" name="Freeform 26">
                <a:extLst>
                  <a:ext uri="{FF2B5EF4-FFF2-40B4-BE49-F238E27FC236}">
                    <a16:creationId xmlns:a16="http://schemas.microsoft.com/office/drawing/2014/main" id="{A68ADD35-4FEA-404D-B2F3-23556E6E8F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24" name="Freeform 27">
                <a:extLst>
                  <a:ext uri="{FF2B5EF4-FFF2-40B4-BE49-F238E27FC236}">
                    <a16:creationId xmlns:a16="http://schemas.microsoft.com/office/drawing/2014/main" id="{89CF17CA-49E3-4B4A-836A-4FD55C67BE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25" name="Freeform 28">
                <a:extLst>
                  <a:ext uri="{FF2B5EF4-FFF2-40B4-BE49-F238E27FC236}">
                    <a16:creationId xmlns:a16="http://schemas.microsoft.com/office/drawing/2014/main" id="{AB394F2E-F3E7-4CED-84A9-35C47AB287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26" name="Freeform 29">
                <a:extLst>
                  <a:ext uri="{FF2B5EF4-FFF2-40B4-BE49-F238E27FC236}">
                    <a16:creationId xmlns:a16="http://schemas.microsoft.com/office/drawing/2014/main" id="{FF816C2F-3999-4A9F-8395-5D68ED33A4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27" name="Freeform 30">
                <a:extLst>
                  <a:ext uri="{FF2B5EF4-FFF2-40B4-BE49-F238E27FC236}">
                    <a16:creationId xmlns:a16="http://schemas.microsoft.com/office/drawing/2014/main" id="{82AD6AC6-71D5-4BD8-9185-D3062968B5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28" name="Freeform 31">
                <a:extLst>
                  <a:ext uri="{FF2B5EF4-FFF2-40B4-BE49-F238E27FC236}">
                    <a16:creationId xmlns:a16="http://schemas.microsoft.com/office/drawing/2014/main" id="{743A50C2-65CF-4F4C-B412-6149A93AC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3229" name="Group 3082">
              <a:extLst>
                <a:ext uri="{FF2B5EF4-FFF2-40B4-BE49-F238E27FC236}">
                  <a16:creationId xmlns:a16="http://schemas.microsoft.com/office/drawing/2014/main" id="{6C0E7A88-FEDF-4C4F-A6B4-F7DDE9DE92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3230" name="Freeform 32">
                <a:extLst>
                  <a:ext uri="{FF2B5EF4-FFF2-40B4-BE49-F238E27FC236}">
                    <a16:creationId xmlns:a16="http://schemas.microsoft.com/office/drawing/2014/main" id="{AE94B3EE-D5C0-4BDE-B6AA-7599F0486E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31" name="Freeform 33">
                <a:extLst>
                  <a:ext uri="{FF2B5EF4-FFF2-40B4-BE49-F238E27FC236}">
                    <a16:creationId xmlns:a16="http://schemas.microsoft.com/office/drawing/2014/main" id="{5EF110E8-C00D-454E-8F3A-ECF2D35667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32" name="Freeform 34">
                <a:extLst>
                  <a:ext uri="{FF2B5EF4-FFF2-40B4-BE49-F238E27FC236}">
                    <a16:creationId xmlns:a16="http://schemas.microsoft.com/office/drawing/2014/main" id="{BFC5F327-6927-4F35-9AF6-C45527BB45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33" name="Freeform 35">
                <a:extLst>
                  <a:ext uri="{FF2B5EF4-FFF2-40B4-BE49-F238E27FC236}">
                    <a16:creationId xmlns:a16="http://schemas.microsoft.com/office/drawing/2014/main" id="{BF2D314D-AEDE-418D-9702-D3CDB98C3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34" name="Freeform 36">
                <a:extLst>
                  <a:ext uri="{FF2B5EF4-FFF2-40B4-BE49-F238E27FC236}">
                    <a16:creationId xmlns:a16="http://schemas.microsoft.com/office/drawing/2014/main" id="{64FD07F8-3CA6-4209-9A9E-30609FE9A3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35" name="Freeform 37">
                <a:extLst>
                  <a:ext uri="{FF2B5EF4-FFF2-40B4-BE49-F238E27FC236}">
                    <a16:creationId xmlns:a16="http://schemas.microsoft.com/office/drawing/2014/main" id="{AB0AE24D-CD49-4B57-82E0-780F62AE4F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36" name="Freeform 38">
                <a:extLst>
                  <a:ext uri="{FF2B5EF4-FFF2-40B4-BE49-F238E27FC236}">
                    <a16:creationId xmlns:a16="http://schemas.microsoft.com/office/drawing/2014/main" id="{66803AF8-6368-45E6-A0B7-C0C4CFFEEB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37" name="Freeform 39">
                <a:extLst>
                  <a:ext uri="{FF2B5EF4-FFF2-40B4-BE49-F238E27FC236}">
                    <a16:creationId xmlns:a16="http://schemas.microsoft.com/office/drawing/2014/main" id="{B4761E05-2792-472B-A814-9616151CF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38" name="Freeform 40">
                <a:extLst>
                  <a:ext uri="{FF2B5EF4-FFF2-40B4-BE49-F238E27FC236}">
                    <a16:creationId xmlns:a16="http://schemas.microsoft.com/office/drawing/2014/main" id="{40B6A261-9427-4E70-9564-048AD009BD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39" name="Rectangle 41">
                <a:extLst>
                  <a:ext uri="{FF2B5EF4-FFF2-40B4-BE49-F238E27FC236}">
                    <a16:creationId xmlns:a16="http://schemas.microsoft.com/office/drawing/2014/main" id="{68BFDFBE-2286-4123-9436-E1DF84AF49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pic>
        <p:nvPicPr>
          <p:cNvPr id="3240" name="Picture 2">
            <a:extLst>
              <a:ext uri="{FF2B5EF4-FFF2-40B4-BE49-F238E27FC236}">
                <a16:creationId xmlns:a16="http://schemas.microsoft.com/office/drawing/2014/main" id="{5B3DE270-418F-47A7-B311-C4D876041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828066E-5F05-E4B8-4229-0D3C362CF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anchor="b">
            <a:normAutofit/>
          </a:bodyPr>
          <a:lstStyle/>
          <a:p>
            <a:r>
              <a:rPr lang="zh-TW" altLang="en-US" sz="2800" dirty="0">
                <a:solidFill>
                  <a:srgbClr val="FFFFFF"/>
                </a:solidFill>
              </a:rPr>
              <a:t>程式運行機制</a:t>
            </a:r>
          </a:p>
        </p:txBody>
      </p:sp>
      <p:sp useBgFill="1">
        <p:nvSpPr>
          <p:cNvPr id="3241" name="Round Diagonal Corner Rectangle 11">
            <a:extLst>
              <a:ext uri="{FF2B5EF4-FFF2-40B4-BE49-F238E27FC236}">
                <a16:creationId xmlns:a16="http://schemas.microsoft.com/office/drawing/2014/main" id="{A1351C6B-7343-451F-AB4A-1CE294A4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E7EB09F-3278-5B25-73D5-5548A2F3A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988" y="1966938"/>
            <a:ext cx="6112382" cy="291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66533E02-FB9C-7B7D-D5CC-AE1B57EB6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041" y="2249487"/>
            <a:ext cx="3281004" cy="3541714"/>
          </a:xfrm>
        </p:spPr>
        <p:txBody>
          <a:bodyPr>
            <a:normAutofit/>
          </a:bodyPr>
          <a:lstStyle/>
          <a:p>
            <a:r>
              <a:rPr lang="zh-TW" altLang="en-US" sz="1800" dirty="0">
                <a:solidFill>
                  <a:srgbClr val="FFFFFF"/>
                </a:solidFill>
              </a:rPr>
              <a:t>直譯語言 </a:t>
            </a:r>
            <a:r>
              <a:rPr lang="en-US" altLang="zh-TW" sz="1800" dirty="0">
                <a:solidFill>
                  <a:srgbClr val="FFFFFF"/>
                </a:solidFill>
              </a:rPr>
              <a:t>— </a:t>
            </a:r>
            <a:r>
              <a:rPr lang="en-US" sz="1800" dirty="0" err="1">
                <a:solidFill>
                  <a:srgbClr val="FFFFFF"/>
                </a:solidFill>
              </a:rPr>
              <a:t>JavaScript、Python、Ruby</a:t>
            </a:r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369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C2DFAF-D3BC-91E3-9688-50CA4C77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FFFFFF"/>
                </a:solidFill>
              </a:rPr>
              <a:t>程式運行機制</a:t>
            </a:r>
            <a:endParaRPr lang="zh-TW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3A02898-71EF-FDCF-974C-6A966740E7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939" y="2249488"/>
            <a:ext cx="7238947" cy="354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806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B1C777-1EE2-2A95-67E7-562FF0183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JAVA</a:t>
            </a:r>
            <a:r>
              <a:rPr lang="zh-TW" altLang="en-US" dirty="0"/>
              <a:t>運作機制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934ED90-FEA8-5535-5AFA-5F36414B13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224" y="2249488"/>
            <a:ext cx="6296377" cy="354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865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Rectangle 6152">
            <a:extLst>
              <a:ext uri="{FF2B5EF4-FFF2-40B4-BE49-F238E27FC236}">
                <a16:creationId xmlns:a16="http://schemas.microsoft.com/office/drawing/2014/main" id="{3CBA50DB-DBC7-4B6E-B3C1-8FF1EA519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55" name="Group 6154">
            <a:extLst>
              <a:ext uri="{FF2B5EF4-FFF2-40B4-BE49-F238E27FC236}">
                <a16:creationId xmlns:a16="http://schemas.microsoft.com/office/drawing/2014/main" id="{1DED8FB6-AF8D-4D98-913D-E6486FEC1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6156" name="Group 6155">
              <a:extLst>
                <a:ext uri="{FF2B5EF4-FFF2-40B4-BE49-F238E27FC236}">
                  <a16:creationId xmlns:a16="http://schemas.microsoft.com/office/drawing/2014/main" id="{0A805ED2-113B-4584-8827-567B5792F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168" name="Rectangle 5">
                <a:extLst>
                  <a:ext uri="{FF2B5EF4-FFF2-40B4-BE49-F238E27FC236}">
                    <a16:creationId xmlns:a16="http://schemas.microsoft.com/office/drawing/2014/main" id="{C6CF21D8-CC72-4F35-A29E-3AF9E6DA1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69" name="Freeform 6">
                <a:extLst>
                  <a:ext uri="{FF2B5EF4-FFF2-40B4-BE49-F238E27FC236}">
                    <a16:creationId xmlns:a16="http://schemas.microsoft.com/office/drawing/2014/main" id="{8E60A7C3-087D-47B4-AB5A-C8B1042FD2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70" name="Freeform 7">
                <a:extLst>
                  <a:ext uri="{FF2B5EF4-FFF2-40B4-BE49-F238E27FC236}">
                    <a16:creationId xmlns:a16="http://schemas.microsoft.com/office/drawing/2014/main" id="{1885EECE-F6D9-4128-BC90-01583BF269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71" name="Freeform 8">
                <a:extLst>
                  <a:ext uri="{FF2B5EF4-FFF2-40B4-BE49-F238E27FC236}">
                    <a16:creationId xmlns:a16="http://schemas.microsoft.com/office/drawing/2014/main" id="{F44AA128-AA96-4FF2-A1C3-F9D2E7FD38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72" name="Freeform 9">
                <a:extLst>
                  <a:ext uri="{FF2B5EF4-FFF2-40B4-BE49-F238E27FC236}">
                    <a16:creationId xmlns:a16="http://schemas.microsoft.com/office/drawing/2014/main" id="{7E52DC12-230B-4892-B284-F2FE9DE16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73" name="Freeform 10">
                <a:extLst>
                  <a:ext uri="{FF2B5EF4-FFF2-40B4-BE49-F238E27FC236}">
                    <a16:creationId xmlns:a16="http://schemas.microsoft.com/office/drawing/2014/main" id="{A68FBF9E-B81A-41D0-8A03-6CFC30811D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74" name="Freeform 11">
                <a:extLst>
                  <a:ext uri="{FF2B5EF4-FFF2-40B4-BE49-F238E27FC236}">
                    <a16:creationId xmlns:a16="http://schemas.microsoft.com/office/drawing/2014/main" id="{B0047F84-8480-494F-9241-39FF17CFF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75" name="Freeform 12">
                <a:extLst>
                  <a:ext uri="{FF2B5EF4-FFF2-40B4-BE49-F238E27FC236}">
                    <a16:creationId xmlns:a16="http://schemas.microsoft.com/office/drawing/2014/main" id="{8CAF76D8-4B95-4A8E-9EE5-8CCC0A7AD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76" name="Freeform 13">
                <a:extLst>
                  <a:ext uri="{FF2B5EF4-FFF2-40B4-BE49-F238E27FC236}">
                    <a16:creationId xmlns:a16="http://schemas.microsoft.com/office/drawing/2014/main" id="{792F82F3-05A8-4A55-8C5B-81F6678B59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77" name="Freeform 14">
                <a:extLst>
                  <a:ext uri="{FF2B5EF4-FFF2-40B4-BE49-F238E27FC236}">
                    <a16:creationId xmlns:a16="http://schemas.microsoft.com/office/drawing/2014/main" id="{B8472536-021A-4E59-BD59-DDC090A18A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78" name="Freeform 15">
                <a:extLst>
                  <a:ext uri="{FF2B5EF4-FFF2-40B4-BE49-F238E27FC236}">
                    <a16:creationId xmlns:a16="http://schemas.microsoft.com/office/drawing/2014/main" id="{AEBEF646-3C12-469F-B194-A161A7A95D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79" name="Line 16">
                <a:extLst>
                  <a:ext uri="{FF2B5EF4-FFF2-40B4-BE49-F238E27FC236}">
                    <a16:creationId xmlns:a16="http://schemas.microsoft.com/office/drawing/2014/main" id="{D4501159-D7AC-4307-9DFC-C8F3A94341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80" name="Freeform 17">
                <a:extLst>
                  <a:ext uri="{FF2B5EF4-FFF2-40B4-BE49-F238E27FC236}">
                    <a16:creationId xmlns:a16="http://schemas.microsoft.com/office/drawing/2014/main" id="{B5244C41-454C-47D8-A6A9-C17EC2A366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81" name="Freeform 18">
                <a:extLst>
                  <a:ext uri="{FF2B5EF4-FFF2-40B4-BE49-F238E27FC236}">
                    <a16:creationId xmlns:a16="http://schemas.microsoft.com/office/drawing/2014/main" id="{8FA883B8-99FB-4540-B573-F0674BFB1C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82" name="Freeform 19">
                <a:extLst>
                  <a:ext uri="{FF2B5EF4-FFF2-40B4-BE49-F238E27FC236}">
                    <a16:creationId xmlns:a16="http://schemas.microsoft.com/office/drawing/2014/main" id="{F1178B7C-5A00-4E5B-9010-B1477621E0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83" name="Freeform 20">
                <a:extLst>
                  <a:ext uri="{FF2B5EF4-FFF2-40B4-BE49-F238E27FC236}">
                    <a16:creationId xmlns:a16="http://schemas.microsoft.com/office/drawing/2014/main" id="{E359D5D8-EE2E-4714-A40A-C3A6D91F98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84" name="Rectangle 21">
                <a:extLst>
                  <a:ext uri="{FF2B5EF4-FFF2-40B4-BE49-F238E27FC236}">
                    <a16:creationId xmlns:a16="http://schemas.microsoft.com/office/drawing/2014/main" id="{8A89C2E5-F892-4666-85FB-995578FBC7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85" name="Freeform 22">
                <a:extLst>
                  <a:ext uri="{FF2B5EF4-FFF2-40B4-BE49-F238E27FC236}">
                    <a16:creationId xmlns:a16="http://schemas.microsoft.com/office/drawing/2014/main" id="{6DC6174B-0EC3-4A81-A0D1-D10DBB869A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86" name="Freeform 23">
                <a:extLst>
                  <a:ext uri="{FF2B5EF4-FFF2-40B4-BE49-F238E27FC236}">
                    <a16:creationId xmlns:a16="http://schemas.microsoft.com/office/drawing/2014/main" id="{2CB96070-0553-4F79-984C-8DABB1CD5D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87" name="Freeform 24">
                <a:extLst>
                  <a:ext uri="{FF2B5EF4-FFF2-40B4-BE49-F238E27FC236}">
                    <a16:creationId xmlns:a16="http://schemas.microsoft.com/office/drawing/2014/main" id="{BA23B6E2-3718-4009-B80E-9279154B1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88" name="Freeform 25">
                <a:extLst>
                  <a:ext uri="{FF2B5EF4-FFF2-40B4-BE49-F238E27FC236}">
                    <a16:creationId xmlns:a16="http://schemas.microsoft.com/office/drawing/2014/main" id="{CAFB32D5-E528-419B-80EE-1475633970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89" name="Freeform 26">
                <a:extLst>
                  <a:ext uri="{FF2B5EF4-FFF2-40B4-BE49-F238E27FC236}">
                    <a16:creationId xmlns:a16="http://schemas.microsoft.com/office/drawing/2014/main" id="{A68ADD35-4FEA-404D-B2F3-23556E6E8F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90" name="Freeform 27">
                <a:extLst>
                  <a:ext uri="{FF2B5EF4-FFF2-40B4-BE49-F238E27FC236}">
                    <a16:creationId xmlns:a16="http://schemas.microsoft.com/office/drawing/2014/main" id="{89CF17CA-49E3-4B4A-836A-4FD55C67BE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91" name="Freeform 28">
                <a:extLst>
                  <a:ext uri="{FF2B5EF4-FFF2-40B4-BE49-F238E27FC236}">
                    <a16:creationId xmlns:a16="http://schemas.microsoft.com/office/drawing/2014/main" id="{AB394F2E-F3E7-4CED-84A9-35C47AB287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92" name="Freeform 29">
                <a:extLst>
                  <a:ext uri="{FF2B5EF4-FFF2-40B4-BE49-F238E27FC236}">
                    <a16:creationId xmlns:a16="http://schemas.microsoft.com/office/drawing/2014/main" id="{FF816C2F-3999-4A9F-8395-5D68ED33A4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93" name="Freeform 30">
                <a:extLst>
                  <a:ext uri="{FF2B5EF4-FFF2-40B4-BE49-F238E27FC236}">
                    <a16:creationId xmlns:a16="http://schemas.microsoft.com/office/drawing/2014/main" id="{82AD6AC6-71D5-4BD8-9185-D3062968B5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94" name="Freeform 31">
                <a:extLst>
                  <a:ext uri="{FF2B5EF4-FFF2-40B4-BE49-F238E27FC236}">
                    <a16:creationId xmlns:a16="http://schemas.microsoft.com/office/drawing/2014/main" id="{743A50C2-65CF-4F4C-B412-6149A93AC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6157" name="Group 6156">
              <a:extLst>
                <a:ext uri="{FF2B5EF4-FFF2-40B4-BE49-F238E27FC236}">
                  <a16:creationId xmlns:a16="http://schemas.microsoft.com/office/drawing/2014/main" id="{6C0E7A88-FEDF-4C4F-A6B4-F7DDE9DE92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158" name="Freeform 32">
                <a:extLst>
                  <a:ext uri="{FF2B5EF4-FFF2-40B4-BE49-F238E27FC236}">
                    <a16:creationId xmlns:a16="http://schemas.microsoft.com/office/drawing/2014/main" id="{AE94B3EE-D5C0-4BDE-B6AA-7599F0486E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59" name="Freeform 33">
                <a:extLst>
                  <a:ext uri="{FF2B5EF4-FFF2-40B4-BE49-F238E27FC236}">
                    <a16:creationId xmlns:a16="http://schemas.microsoft.com/office/drawing/2014/main" id="{5EF110E8-C00D-454E-8F3A-ECF2D35667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60" name="Freeform 34">
                <a:extLst>
                  <a:ext uri="{FF2B5EF4-FFF2-40B4-BE49-F238E27FC236}">
                    <a16:creationId xmlns:a16="http://schemas.microsoft.com/office/drawing/2014/main" id="{BFC5F327-6927-4F35-9AF6-C45527BB45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61" name="Freeform 35">
                <a:extLst>
                  <a:ext uri="{FF2B5EF4-FFF2-40B4-BE49-F238E27FC236}">
                    <a16:creationId xmlns:a16="http://schemas.microsoft.com/office/drawing/2014/main" id="{BF2D314D-AEDE-418D-9702-D3CDB98C3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62" name="Freeform 36">
                <a:extLst>
                  <a:ext uri="{FF2B5EF4-FFF2-40B4-BE49-F238E27FC236}">
                    <a16:creationId xmlns:a16="http://schemas.microsoft.com/office/drawing/2014/main" id="{64FD07F8-3CA6-4209-9A9E-30609FE9A3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63" name="Freeform 37">
                <a:extLst>
                  <a:ext uri="{FF2B5EF4-FFF2-40B4-BE49-F238E27FC236}">
                    <a16:creationId xmlns:a16="http://schemas.microsoft.com/office/drawing/2014/main" id="{AB0AE24D-CD49-4B57-82E0-780F62AE4F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64" name="Freeform 38">
                <a:extLst>
                  <a:ext uri="{FF2B5EF4-FFF2-40B4-BE49-F238E27FC236}">
                    <a16:creationId xmlns:a16="http://schemas.microsoft.com/office/drawing/2014/main" id="{66803AF8-6368-45E6-A0B7-C0C4CFFEEB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65" name="Freeform 39">
                <a:extLst>
                  <a:ext uri="{FF2B5EF4-FFF2-40B4-BE49-F238E27FC236}">
                    <a16:creationId xmlns:a16="http://schemas.microsoft.com/office/drawing/2014/main" id="{B4761E05-2792-472B-A814-9616151CF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66" name="Freeform 40">
                <a:extLst>
                  <a:ext uri="{FF2B5EF4-FFF2-40B4-BE49-F238E27FC236}">
                    <a16:creationId xmlns:a16="http://schemas.microsoft.com/office/drawing/2014/main" id="{40B6A261-9427-4E70-9564-048AD009BD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67" name="Rectangle 41">
                <a:extLst>
                  <a:ext uri="{FF2B5EF4-FFF2-40B4-BE49-F238E27FC236}">
                    <a16:creationId xmlns:a16="http://schemas.microsoft.com/office/drawing/2014/main" id="{68BFDFBE-2286-4123-9436-E1DF84AF49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pic>
        <p:nvPicPr>
          <p:cNvPr id="6196" name="Picture 2">
            <a:extLst>
              <a:ext uri="{FF2B5EF4-FFF2-40B4-BE49-F238E27FC236}">
                <a16:creationId xmlns:a16="http://schemas.microsoft.com/office/drawing/2014/main" id="{5B3DE270-418F-47A7-B311-C4D876041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21E4BC3-AAB6-9BBA-664B-D6F929A53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anchor="b">
            <a:normAutofit/>
          </a:bodyPr>
          <a:lstStyle/>
          <a:p>
            <a:r>
              <a:rPr lang="en-US" altLang="zh-TW" sz="2800" dirty="0"/>
              <a:t>JAVA</a:t>
            </a:r>
            <a:r>
              <a:rPr lang="zh-TW" altLang="en-US" sz="2800" dirty="0"/>
              <a:t>運作機制</a:t>
            </a:r>
            <a:endParaRPr lang="zh-TW" altLang="en-US" sz="2800" dirty="0">
              <a:solidFill>
                <a:srgbClr val="FFFFFF"/>
              </a:solidFill>
            </a:endParaRPr>
          </a:p>
        </p:txBody>
      </p:sp>
      <p:sp useBgFill="1">
        <p:nvSpPr>
          <p:cNvPr id="6198" name="Round Diagonal Corner Rectangle 11">
            <a:extLst>
              <a:ext uri="{FF2B5EF4-FFF2-40B4-BE49-F238E27FC236}">
                <a16:creationId xmlns:a16="http://schemas.microsoft.com/office/drawing/2014/main" id="{A1351C6B-7343-451F-AB4A-1CE294A4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BE763A1-05AB-61D5-B679-0AF410A76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20864" y="1137621"/>
            <a:ext cx="4908629" cy="457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Content Placeholder 6149">
            <a:extLst>
              <a:ext uri="{FF2B5EF4-FFF2-40B4-BE49-F238E27FC236}">
                <a16:creationId xmlns:a16="http://schemas.microsoft.com/office/drawing/2014/main" id="{DCC2ACD4-5DE1-EE35-CA52-903CA8338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041" y="2249487"/>
            <a:ext cx="3281004" cy="3541714"/>
          </a:xfrm>
        </p:spPr>
        <p:txBody>
          <a:bodyPr>
            <a:normAutofit/>
          </a:bodyPr>
          <a:lstStyle/>
          <a:p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981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4FE68-4C42-B291-9DEB-976818F7C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JDK</a:t>
            </a:r>
            <a:r>
              <a:rPr lang="zh-TW" altLang="en-US" dirty="0"/>
              <a:t>安裝準備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D2AF3E-6A1F-A8C4-F4AF-2612771AA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https://www.oracle.com/tw/java/technologies/downloads/#jdk25-windows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hlinkClick r:id="rId3"/>
              </a:rPr>
              <a:t>https://jdk.java.net/25/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5180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7DD037-1796-37CA-20D1-ACEF4A7F4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設置環境變數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45F2D6-2142-F4EA-7145-D6D85C314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請在</a:t>
            </a:r>
            <a:r>
              <a:rPr lang="en-US" altLang="zh-TW" dirty="0" err="1"/>
              <a:t>cmd</a:t>
            </a:r>
            <a:r>
              <a:rPr lang="en-US" altLang="zh-TW" dirty="0"/>
              <a:t> </a:t>
            </a:r>
            <a:r>
              <a:rPr lang="zh-TW" altLang="en-US" dirty="0"/>
              <a:t>中輸入 </a:t>
            </a:r>
            <a:r>
              <a:rPr lang="en-US" altLang="zh-TW" dirty="0"/>
              <a:t>java -version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5355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74C0B9-7D3C-467D-835A-089CA698A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用帥一點的東西來執行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F6FA73-1E5A-3F09-52AB-BAE8CF9F3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Sublime 4</a:t>
            </a:r>
            <a:br>
              <a:rPr lang="en-US" altLang="zh-TW" dirty="0"/>
            </a:br>
            <a:r>
              <a:rPr lang="en-US" altLang="zh-TW" dirty="0"/>
              <a:t>https://www.sublimetext.com/download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24646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D37993-ECC9-7A0C-C0FA-AE304166D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HELLO world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319C8B16-D0C8-75D8-B7C8-FCD7FB14D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7908" y="2872421"/>
            <a:ext cx="5973009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93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F9E781-8A2E-E504-8438-35C62DB1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JAVA </a:t>
            </a:r>
            <a:r>
              <a:rPr lang="zh-TW" altLang="en-US" dirty="0"/>
              <a:t>基本規則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434C6B-7DF8-B4CD-6BD3-EF5080AE1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57107"/>
            <a:ext cx="9905999" cy="3541714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類別為最基本的元素</a:t>
            </a:r>
            <a:endParaRPr lang="en-US" altLang="zh-TW" dirty="0"/>
          </a:p>
          <a:p>
            <a:r>
              <a:rPr lang="en-US" altLang="zh-TW" dirty="0"/>
              <a:t>public static void main(String[] </a:t>
            </a:r>
            <a:r>
              <a:rPr lang="en-US" altLang="zh-TW" dirty="0" err="1"/>
              <a:t>args</a:t>
            </a:r>
            <a:r>
              <a:rPr lang="en-US" altLang="zh-TW" dirty="0"/>
              <a:t>) </a:t>
            </a:r>
            <a:r>
              <a:rPr lang="zh-TW" altLang="en-US" dirty="0"/>
              <a:t>程式進入點</a:t>
            </a:r>
            <a:endParaRPr lang="en-US" altLang="zh-TW" dirty="0"/>
          </a:p>
          <a:p>
            <a:r>
              <a:rPr lang="zh-TW" altLang="en-US" dirty="0"/>
              <a:t>檔案命名規則</a:t>
            </a:r>
            <a:endParaRPr lang="en-US" altLang="zh-TW" dirty="0"/>
          </a:p>
          <a:p>
            <a:pPr lvl="1"/>
            <a:r>
              <a:rPr lang="zh-TW" altLang="en-US" dirty="0"/>
              <a:t>必須是</a:t>
            </a:r>
            <a:r>
              <a:rPr lang="en-US" altLang="zh-TW" dirty="0"/>
              <a:t>.java</a:t>
            </a:r>
            <a:r>
              <a:rPr lang="zh-TW" altLang="en-US" dirty="0"/>
              <a:t>為後綴</a:t>
            </a:r>
            <a:endParaRPr lang="en-US" altLang="zh-TW" dirty="0"/>
          </a:p>
          <a:p>
            <a:pPr lvl="1"/>
            <a:r>
              <a:rPr lang="zh-TW" altLang="en-US" dirty="0"/>
              <a:t>當有檔案內有</a:t>
            </a:r>
            <a:r>
              <a:rPr lang="en-US" altLang="zh-TW" dirty="0"/>
              <a:t>public class</a:t>
            </a:r>
            <a:r>
              <a:rPr lang="zh-TW" altLang="en-US" dirty="0"/>
              <a:t> 類別名， 其類別名稱需要與檔名相同</a:t>
            </a:r>
            <a:endParaRPr lang="en-US" altLang="zh-TW" dirty="0"/>
          </a:p>
          <a:p>
            <a:r>
              <a:rPr lang="zh-TW" altLang="en-US" dirty="0"/>
              <a:t>大小寫問題</a:t>
            </a:r>
            <a:endParaRPr lang="en-US" altLang="zh-TW" dirty="0"/>
          </a:p>
          <a:p>
            <a:r>
              <a:rPr lang="zh-TW" altLang="en-US" dirty="0"/>
              <a:t>輸出</a:t>
            </a:r>
            <a:r>
              <a:rPr lang="en-US" altLang="zh-TW" dirty="0" err="1"/>
              <a:t>System.out.println</a:t>
            </a:r>
            <a:r>
              <a:rPr lang="zh-TW" altLang="en-US" dirty="0"/>
              <a:t>、</a:t>
            </a:r>
            <a:r>
              <a:rPr lang="en-US" altLang="zh-TW" dirty="0" err="1"/>
              <a:t>System.out.print</a:t>
            </a:r>
            <a:r>
              <a:rPr lang="zh-TW" altLang="en-US" dirty="0"/>
              <a:t>差別  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64479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E13F3B-21BF-6D59-6BFA-DCAEE7CCF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先來聊聊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E1A5A0-5084-4AE7-4CDA-CB4DF478A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AI</a:t>
            </a:r>
            <a:r>
              <a:rPr lang="zh-TW" altLang="en-US" dirty="0"/>
              <a:t> 與 程式設計師</a:t>
            </a:r>
            <a:endParaRPr lang="en-US" altLang="zh-TW" dirty="0"/>
          </a:p>
          <a:p>
            <a:r>
              <a:rPr lang="zh-TW" altLang="en-US" dirty="0"/>
              <a:t>還有什麼想問的</a:t>
            </a:r>
            <a:r>
              <a:rPr lang="en-US" altLang="zh-TW" dirty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6012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9BB990-C2E8-01D4-1415-BB16272081E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C3EA63-2013-9C52-EC5F-C9380BCC6F0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000" b="1">
                <a:solidFill>
                  <a:srgbClr val="000000"/>
                </a:solidFill>
              </a:rPr>
              <a:t>Audience Q&amp;A</a:t>
            </a:r>
            <a:endParaRPr lang="zh-TW" altLang="en-US" sz="4000" b="1">
              <a:solidFill>
                <a:srgbClr val="00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524CE6-40D4-C6F7-6AC1-FE73D76269CD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altLang="zh-TW" sz="2600">
                <a:solidFill>
                  <a:srgbClr val="FFFFFF"/>
                </a:solidFill>
              </a:rPr>
              <a:t>The </a:t>
            </a:r>
            <a:r>
              <a:rPr lang="en-US" altLang="zh-TW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altLang="zh-TW" sz="2600">
                <a:solidFill>
                  <a:srgbClr val="FFFFFF"/>
                </a:solidFill>
              </a:rPr>
              <a:t> must be installed on every computer you’re presenting from</a:t>
            </a:r>
            <a:endParaRPr lang="zh-TW" altLang="en-US" sz="2600">
              <a:solidFill>
                <a:srgbClr val="FFFFFF"/>
              </a:solidFill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D688DBBC-79D7-DF52-EF38-697E9627A3A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梯形 6">
            <a:extLst>
              <a:ext uri="{FF2B5EF4-FFF2-40B4-BE49-F238E27FC236}">
                <a16:creationId xmlns:a16="http://schemas.microsoft.com/office/drawing/2014/main" id="{2DEC5F80-4120-3F47-FA58-BA484D2BB5D6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altLang="zh-TW" sz="2600" b="1">
                <a:solidFill>
                  <a:srgbClr val="198038"/>
                </a:solidFill>
              </a:rPr>
              <a:t>Do not edit
</a:t>
            </a:r>
            <a:r>
              <a:rPr lang="en-US" altLang="zh-TW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zh-TW" altLang="en-US" sz="2200">
              <a:solidFill>
                <a:srgbClr val="198038"/>
              </a:solidFill>
            </a:endParaRPr>
          </a:p>
        </p:txBody>
      </p:sp>
      <p:pic>
        <p:nvPicPr>
          <p:cNvPr id="9" name="圖形 8">
            <a:extLst>
              <a:ext uri="{FF2B5EF4-FFF2-40B4-BE49-F238E27FC236}">
                <a16:creationId xmlns:a16="http://schemas.microsoft.com/office/drawing/2014/main" id="{EB3E1F8D-8E44-4801-8782-12B037D971FF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26148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FEF86-E85C-B19B-5FB6-EBE3D41A7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0446D9-6302-680D-476E-969F2FF0E0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開始吧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47B18FF-AB5E-7C67-7CF8-0BD2F466CF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8392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036317-7946-ADE4-6F0E-0AFC5B07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註解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1ED22F-3230-2BDE-D8AE-50915E92A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註解的用意</a:t>
            </a:r>
            <a:endParaRPr lang="en-US" altLang="zh-TW" dirty="0"/>
          </a:p>
          <a:p>
            <a:pPr lvl="1"/>
            <a:r>
              <a:rPr lang="zh-TW" altLang="en-US" dirty="0"/>
              <a:t>永遠不要過於相信自己的理解力</a:t>
            </a:r>
            <a:endParaRPr lang="en-US" altLang="zh-TW" dirty="0"/>
          </a:p>
          <a:p>
            <a:pPr lvl="1"/>
            <a:r>
              <a:rPr lang="zh-TW" altLang="en-US" dirty="0"/>
              <a:t>可讀性第一</a:t>
            </a:r>
            <a:endParaRPr lang="en-US" altLang="zh-TW" dirty="0"/>
          </a:p>
          <a:p>
            <a:pPr lvl="1"/>
            <a:r>
              <a:rPr lang="zh-TW" altLang="en-US" dirty="0"/>
              <a:t>程式碼即文件</a:t>
            </a:r>
            <a:endParaRPr lang="en-US" altLang="zh-TW" dirty="0"/>
          </a:p>
          <a:p>
            <a:r>
              <a:rPr lang="en-US" altLang="zh-TW" dirty="0"/>
              <a:t>JAVA</a:t>
            </a:r>
            <a:r>
              <a:rPr lang="zh-TW" altLang="en-US" dirty="0"/>
              <a:t>註解</a:t>
            </a:r>
            <a:endParaRPr lang="en-US" altLang="zh-TW" dirty="0"/>
          </a:p>
          <a:p>
            <a:pPr lvl="1"/>
            <a:r>
              <a:rPr lang="zh-TW" altLang="en-US" dirty="0"/>
              <a:t>單行註解</a:t>
            </a:r>
            <a:endParaRPr lang="en-US" altLang="zh-TW" dirty="0"/>
          </a:p>
          <a:p>
            <a:pPr lvl="1"/>
            <a:r>
              <a:rPr lang="zh-TW" altLang="en-US" dirty="0"/>
              <a:t>多行註解</a:t>
            </a:r>
            <a:endParaRPr lang="en-US" altLang="zh-TW" dirty="0"/>
          </a:p>
          <a:p>
            <a:pPr lvl="1"/>
            <a:r>
              <a:rPr lang="zh-TW" altLang="en-US" dirty="0"/>
              <a:t>文件註解</a:t>
            </a:r>
          </a:p>
        </p:txBody>
      </p:sp>
    </p:spTree>
    <p:extLst>
      <p:ext uri="{BB962C8B-B14F-4D97-AF65-F5344CB8AC3E}">
        <p14:creationId xmlns:p14="http://schemas.microsoft.com/office/powerpoint/2010/main" val="3063849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9B02C3-F5D3-5B3F-4443-01CFBA19C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單行註解與多行註解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506919-081F-E5C5-DED0-9683077AA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//</a:t>
            </a:r>
            <a:r>
              <a:rPr lang="zh-TW" altLang="en-US" dirty="0"/>
              <a:t>、 或</a:t>
            </a:r>
            <a:r>
              <a:rPr lang="en-US" altLang="zh-TW" dirty="0"/>
              <a:t>/**/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46442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706AFD-EECF-3D4A-8F72-A1A1EE640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文件註解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C3931F-1728-86F8-2832-BFF55C76E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@author:</a:t>
            </a:r>
            <a:r>
              <a:rPr lang="zh-TW" altLang="en-US" dirty="0"/>
              <a:t>指定作者</a:t>
            </a:r>
            <a:endParaRPr lang="en-US" altLang="zh-TW" dirty="0"/>
          </a:p>
          <a:p>
            <a:r>
              <a:rPr lang="en-US" altLang="zh-TW" dirty="0"/>
              <a:t>@version:</a:t>
            </a:r>
            <a:r>
              <a:rPr lang="zh-TW" altLang="en-US" dirty="0"/>
              <a:t>版本</a:t>
            </a:r>
            <a:endParaRPr lang="en-US" altLang="zh-TW" dirty="0"/>
          </a:p>
          <a:p>
            <a:r>
              <a:rPr lang="en-US" altLang="zh-TW" dirty="0"/>
              <a:t>@deprecated:</a:t>
            </a:r>
            <a:r>
              <a:rPr lang="zh-TW" altLang="en-US" dirty="0"/>
              <a:t>不推薦使用的方法</a:t>
            </a:r>
            <a:endParaRPr lang="en-US" altLang="zh-TW" dirty="0"/>
          </a:p>
          <a:p>
            <a:r>
              <a:rPr lang="en-US" altLang="zh-TW" dirty="0"/>
              <a:t>@param:</a:t>
            </a:r>
            <a:r>
              <a:rPr lang="zh-TW" altLang="en-US" dirty="0"/>
              <a:t> 方法的參數說明</a:t>
            </a:r>
            <a:endParaRPr lang="en-US" altLang="zh-TW" dirty="0"/>
          </a:p>
          <a:p>
            <a:r>
              <a:rPr lang="en-US" altLang="zh-TW" dirty="0"/>
              <a:t>@return:</a:t>
            </a:r>
            <a:r>
              <a:rPr lang="zh-TW" altLang="en-US" dirty="0"/>
              <a:t>返回的參數用意</a:t>
            </a:r>
            <a:endParaRPr lang="en-US" altLang="zh-TW" dirty="0"/>
          </a:p>
          <a:p>
            <a:r>
              <a:rPr lang="en-US" altLang="zh-TW" dirty="0"/>
              <a:t>@see:</a:t>
            </a:r>
            <a:r>
              <a:rPr lang="zh-TW" altLang="en-US" dirty="0"/>
              <a:t>參考</a:t>
            </a:r>
            <a:endParaRPr lang="en-US" altLang="zh-TW" dirty="0"/>
          </a:p>
          <a:p>
            <a:r>
              <a:rPr lang="en-US" altLang="zh-TW" dirty="0"/>
              <a:t>@exception:</a:t>
            </a:r>
            <a:r>
              <a:rPr lang="zh-TW" altLang="en-US" dirty="0"/>
              <a:t>拋出的異常類型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3803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8424F2-5B5E-EC52-0E99-4DD764F0F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寫一個註解程式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50FA9E-C1BD-FD8A-0D9D-1ABAAEACB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用資料夾分開</a:t>
            </a:r>
            <a:endParaRPr lang="en-US" altLang="zh-TW" dirty="0"/>
          </a:p>
          <a:p>
            <a:r>
              <a:rPr lang="zh-TW" altLang="en-US" dirty="0"/>
              <a:t>寫一到兩個程式</a:t>
            </a:r>
            <a:endParaRPr lang="en-US" altLang="zh-TW" dirty="0"/>
          </a:p>
          <a:p>
            <a:r>
              <a:rPr lang="zh-TW" altLang="en-US" dirty="0"/>
              <a:t>產出註解文件</a:t>
            </a:r>
            <a:endParaRPr lang="en-US" altLang="zh-TW" dirty="0"/>
          </a:p>
          <a:p>
            <a:r>
              <a:rPr lang="en-US" altLang="zh-TW" dirty="0" err="1"/>
              <a:t>javadoc</a:t>
            </a:r>
            <a:r>
              <a:rPr lang="en-US" altLang="zh-TW" dirty="0"/>
              <a:t> -d ./</a:t>
            </a:r>
            <a:r>
              <a:rPr lang="en-US" altLang="zh-TW" dirty="0" err="1"/>
              <a:t>apidoc</a:t>
            </a:r>
            <a:r>
              <a:rPr lang="en-US" altLang="zh-TW" dirty="0"/>
              <a:t>/ -encoding UTF-8</a:t>
            </a:r>
            <a:r>
              <a:rPr lang="zh-TW" altLang="en-US" dirty="0"/>
              <a:t> </a:t>
            </a:r>
            <a:r>
              <a:rPr lang="en-US" altLang="zh-TW" dirty="0"/>
              <a:t>-charset UTF-8</a:t>
            </a:r>
            <a:r>
              <a:rPr lang="zh-TW" altLang="en-US" dirty="0"/>
              <a:t> </a:t>
            </a:r>
            <a:r>
              <a:rPr lang="en-US" altLang="zh-TW" dirty="0"/>
              <a:t>-subpackages com</a:t>
            </a:r>
          </a:p>
        </p:txBody>
      </p:sp>
    </p:spTree>
    <p:extLst>
      <p:ext uri="{BB962C8B-B14F-4D97-AF65-F5344CB8AC3E}">
        <p14:creationId xmlns:p14="http://schemas.microsoft.com/office/powerpoint/2010/main" val="221551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C7E1AC8-36DF-938F-F558-317E7EE5ACC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7C82DF-884B-2EA8-DEE5-2E35F025684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000" b="1">
                <a:solidFill>
                  <a:srgbClr val="000000"/>
                </a:solidFill>
              </a:rPr>
              <a:t>Audience Q&amp;A</a:t>
            </a:r>
            <a:endParaRPr lang="zh-TW" altLang="en-US" sz="4000" b="1">
              <a:solidFill>
                <a:srgbClr val="00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A4EE90-75B5-3E2C-A98D-EE14A9A2CCB2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altLang="zh-TW" sz="2600">
                <a:solidFill>
                  <a:srgbClr val="FFFFFF"/>
                </a:solidFill>
              </a:rPr>
              <a:t>The </a:t>
            </a:r>
            <a:r>
              <a:rPr lang="en-US" altLang="zh-TW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altLang="zh-TW" sz="2600">
                <a:solidFill>
                  <a:srgbClr val="FFFFFF"/>
                </a:solidFill>
              </a:rPr>
              <a:t> must be installed on every computer you’re presenting from</a:t>
            </a:r>
            <a:endParaRPr lang="zh-TW" altLang="en-US" sz="2600">
              <a:solidFill>
                <a:srgbClr val="FFFFFF"/>
              </a:solidFill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D41514FD-6E0F-4C1C-B413-6E5CC46C04B7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梯形 6">
            <a:extLst>
              <a:ext uri="{FF2B5EF4-FFF2-40B4-BE49-F238E27FC236}">
                <a16:creationId xmlns:a16="http://schemas.microsoft.com/office/drawing/2014/main" id="{F466CBE9-53BF-553B-539E-130606C6C7FB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altLang="zh-TW" sz="2600" b="1">
                <a:solidFill>
                  <a:srgbClr val="198038"/>
                </a:solidFill>
              </a:rPr>
              <a:t>Do not edit
</a:t>
            </a:r>
            <a:r>
              <a:rPr lang="en-US" altLang="zh-TW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zh-TW" altLang="en-US" sz="2200">
              <a:solidFill>
                <a:srgbClr val="198038"/>
              </a:solidFill>
            </a:endParaRPr>
          </a:p>
        </p:txBody>
      </p:sp>
      <p:pic>
        <p:nvPicPr>
          <p:cNvPr id="9" name="圖形 8">
            <a:extLst>
              <a:ext uri="{FF2B5EF4-FFF2-40B4-BE49-F238E27FC236}">
                <a16:creationId xmlns:a16="http://schemas.microsoft.com/office/drawing/2014/main" id="{64FFA961-23A9-D63F-FDF9-DC45DD256D4A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92439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18AD8A-1062-5BBE-50AC-FF0E9D1D4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分隔符號、</a:t>
            </a:r>
            <a:r>
              <a:rPr lang="en-US" altLang="zh-TW" dirty="0"/>
              <a:t>Identifier(</a:t>
            </a:r>
            <a:r>
              <a:rPr lang="zh-TW" altLang="en-US" dirty="0"/>
              <a:t>識別子</a:t>
            </a:r>
            <a:r>
              <a:rPr lang="en-US" altLang="zh-TW" dirty="0"/>
              <a:t>)</a:t>
            </a:r>
            <a:r>
              <a:rPr lang="zh-TW" altLang="en-US" dirty="0"/>
              <a:t>、關鍵字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FB18AA-523F-9B37-EFA5-F00267771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分隔符號</a:t>
            </a:r>
            <a:r>
              <a:rPr lang="en-US" altLang="zh-TW" dirty="0"/>
              <a:t>(;)</a:t>
            </a:r>
            <a:r>
              <a:rPr lang="zh-TW" altLang="en-US" dirty="0"/>
              <a:t>、</a:t>
            </a:r>
            <a:r>
              <a:rPr lang="en-US" altLang="zh-TW" dirty="0"/>
              <a:t>({})</a:t>
            </a:r>
            <a:r>
              <a:rPr lang="zh-TW" altLang="en-US" dirty="0"/>
              <a:t>、</a:t>
            </a:r>
            <a:r>
              <a:rPr lang="en-US" altLang="zh-TW" dirty="0"/>
              <a:t>([])</a:t>
            </a:r>
            <a:r>
              <a:rPr lang="zh-TW" altLang="en-US" dirty="0"/>
              <a:t>、</a:t>
            </a:r>
            <a:r>
              <a:rPr lang="en-US" altLang="zh-TW" dirty="0"/>
              <a:t>( () )</a:t>
            </a:r>
            <a:r>
              <a:rPr lang="zh-TW" altLang="en-US" dirty="0"/>
              <a:t>、空格、圓點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Identifier</a:t>
            </a:r>
          </a:p>
          <a:p>
            <a:pPr lvl="1"/>
            <a:r>
              <a:rPr lang="zh-TW" altLang="en-US" dirty="0"/>
              <a:t>可由字母、數字、底線、貨幣符號</a:t>
            </a:r>
            <a:r>
              <a:rPr lang="en-US" altLang="zh-TW" dirty="0"/>
              <a:t>($)</a:t>
            </a:r>
            <a:r>
              <a:rPr lang="zh-TW" altLang="en-US" dirty="0"/>
              <a:t>組成，數字不能為開頭</a:t>
            </a:r>
            <a:endParaRPr lang="en-US" altLang="zh-TW" dirty="0"/>
          </a:p>
          <a:p>
            <a:pPr lvl="1"/>
            <a:r>
              <a:rPr lang="zh-TW" altLang="en-US" dirty="0"/>
              <a:t>不能是</a:t>
            </a:r>
            <a:r>
              <a:rPr lang="en-US" altLang="zh-TW" dirty="0"/>
              <a:t>java </a:t>
            </a:r>
            <a:r>
              <a:rPr lang="zh-TW" altLang="en-US" dirty="0"/>
              <a:t>的關鍵字和保留字，但可以包含</a:t>
            </a:r>
            <a:endParaRPr lang="en-US" altLang="zh-TW" dirty="0"/>
          </a:p>
          <a:p>
            <a:pPr lvl="1"/>
            <a:r>
              <a:rPr lang="zh-TW" altLang="en-US" dirty="0"/>
              <a:t>不能包含空格</a:t>
            </a:r>
            <a:endParaRPr lang="en-US" altLang="zh-TW" dirty="0"/>
          </a:p>
          <a:p>
            <a:pPr lvl="1"/>
            <a:r>
              <a:rPr lang="zh-TW" altLang="en-US" dirty="0"/>
              <a:t>只能包含貨幣符號，其餘都不行</a:t>
            </a:r>
            <a:endParaRPr lang="en-US" altLang="zh-TW" dirty="0"/>
          </a:p>
          <a:p>
            <a:r>
              <a:rPr lang="zh-TW" altLang="en-US" dirty="0"/>
              <a:t>關鍵字</a:t>
            </a:r>
            <a:endParaRPr lang="en-US" altLang="zh-TW" dirty="0"/>
          </a:p>
          <a:p>
            <a:pPr lvl="1"/>
            <a:r>
              <a:rPr lang="en-US" altLang="zh-TW" dirty="0"/>
              <a:t>https://en.wikipedia.org/wiki/List_of_Java_keywords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58333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9E61A5-D673-3E00-2415-C38A37D7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資料類型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DA4F6A-6726-5DCA-EC0D-20A81C353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宣告方式 </a:t>
            </a:r>
            <a:r>
              <a:rPr lang="en-US" altLang="zh-TW" dirty="0"/>
              <a:t>type(</a:t>
            </a:r>
            <a:r>
              <a:rPr lang="zh-TW" altLang="en-US" dirty="0"/>
              <a:t>型別</a:t>
            </a:r>
            <a:r>
              <a:rPr lang="en-US" altLang="zh-TW" dirty="0"/>
              <a:t>) </a:t>
            </a:r>
            <a:r>
              <a:rPr lang="zh-TW" altLang="en-US" dirty="0"/>
              <a:t> </a:t>
            </a:r>
            <a:r>
              <a:rPr lang="en-US" altLang="zh-TW" dirty="0"/>
              <a:t>Identifier;   </a:t>
            </a:r>
            <a:r>
              <a:rPr lang="zh-TW" altLang="en-US" dirty="0"/>
              <a:t>或者 </a:t>
            </a:r>
            <a:r>
              <a:rPr lang="en-US" altLang="zh-TW" dirty="0"/>
              <a:t>type(</a:t>
            </a:r>
            <a:r>
              <a:rPr lang="zh-TW" altLang="en-US" dirty="0"/>
              <a:t>型別</a:t>
            </a:r>
            <a:r>
              <a:rPr lang="en-US" altLang="zh-TW" dirty="0"/>
              <a:t>) </a:t>
            </a:r>
            <a:r>
              <a:rPr lang="zh-TW" altLang="en-US" dirty="0"/>
              <a:t> </a:t>
            </a:r>
            <a:r>
              <a:rPr lang="en-US" altLang="zh-TW" dirty="0"/>
              <a:t>Identifier=</a:t>
            </a:r>
            <a:r>
              <a:rPr lang="zh-TW" altLang="en-US" dirty="0"/>
              <a:t>初始值</a:t>
            </a:r>
            <a:endParaRPr lang="en-US" altLang="zh-TW" dirty="0"/>
          </a:p>
          <a:p>
            <a:r>
              <a:rPr lang="zh-TW" altLang="en-US" dirty="0"/>
              <a:t>資料類型分兩類</a:t>
            </a:r>
            <a:endParaRPr lang="en-US" altLang="zh-TW" dirty="0"/>
          </a:p>
          <a:p>
            <a:pPr lvl="1"/>
            <a:r>
              <a:rPr lang="en-US" altLang="zh-TW" dirty="0"/>
              <a:t>Primitive </a:t>
            </a:r>
            <a:r>
              <a:rPr lang="zh-TW" altLang="en-US" dirty="0"/>
              <a:t>基本類型</a:t>
            </a:r>
            <a:endParaRPr lang="en-US" altLang="zh-TW" dirty="0"/>
          </a:p>
          <a:p>
            <a:pPr lvl="1"/>
            <a:r>
              <a:rPr lang="en-US" altLang="zh-TW" dirty="0"/>
              <a:t>Reference</a:t>
            </a:r>
            <a:r>
              <a:rPr lang="zh-TW" altLang="en-US" dirty="0"/>
              <a:t> 參照型態</a:t>
            </a:r>
          </a:p>
        </p:txBody>
      </p:sp>
    </p:spTree>
    <p:extLst>
      <p:ext uri="{BB962C8B-B14F-4D97-AF65-F5344CB8AC3E}">
        <p14:creationId xmlns:p14="http://schemas.microsoft.com/office/powerpoint/2010/main" val="1269563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0D3A0A-87E0-12B1-B910-263AAA44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參照類型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36B14D-0F2C-8588-D7C8-CB2FCFBE0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Class</a:t>
            </a:r>
            <a:r>
              <a:rPr lang="zh-TW" altLang="en-US" dirty="0"/>
              <a:t> 、 </a:t>
            </a:r>
            <a:r>
              <a:rPr lang="en-US" altLang="zh-TW" dirty="0"/>
              <a:t>interface</a:t>
            </a:r>
            <a:r>
              <a:rPr lang="zh-TW" altLang="en-US" dirty="0"/>
              <a:t>、</a:t>
            </a:r>
            <a:r>
              <a:rPr lang="en-US" altLang="zh-TW" dirty="0"/>
              <a:t>array</a:t>
            </a:r>
            <a:r>
              <a:rPr lang="zh-TW" altLang="en-US" dirty="0"/>
              <a:t>、</a:t>
            </a:r>
            <a:r>
              <a:rPr lang="en-US" altLang="zh-TW" dirty="0"/>
              <a:t>null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89879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775AF3B-5284-4B97-9BB7-55C6FB369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A0F1F7ED-DA39-478F-85DA-317DE0894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036" name="Group 1035">
              <a:extLst>
                <a:ext uri="{FF2B5EF4-FFF2-40B4-BE49-F238E27FC236}">
                  <a16:creationId xmlns:a16="http://schemas.microsoft.com/office/drawing/2014/main" id="{1DAE5903-52E8-4F25-8473-93EF48377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048" name="Rectangle 5">
                <a:extLst>
                  <a:ext uri="{FF2B5EF4-FFF2-40B4-BE49-F238E27FC236}">
                    <a16:creationId xmlns:a16="http://schemas.microsoft.com/office/drawing/2014/main" id="{894835C1-32DE-4571-AD10-28D58CB8CF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49" name="Freeform 6">
                <a:extLst>
                  <a:ext uri="{FF2B5EF4-FFF2-40B4-BE49-F238E27FC236}">
                    <a16:creationId xmlns:a16="http://schemas.microsoft.com/office/drawing/2014/main" id="{097A5B92-0B48-4251-9764-D34DF8892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50" name="Freeform 7">
                <a:extLst>
                  <a:ext uri="{FF2B5EF4-FFF2-40B4-BE49-F238E27FC236}">
                    <a16:creationId xmlns:a16="http://schemas.microsoft.com/office/drawing/2014/main" id="{E222BF19-57E7-43F3-A2B9-2398BEF966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51" name="Freeform 8">
                <a:extLst>
                  <a:ext uri="{FF2B5EF4-FFF2-40B4-BE49-F238E27FC236}">
                    <a16:creationId xmlns:a16="http://schemas.microsoft.com/office/drawing/2014/main" id="{60C8836E-B7D9-48A9-8FD9-4CC52AF44D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52" name="Freeform 9">
                <a:extLst>
                  <a:ext uri="{FF2B5EF4-FFF2-40B4-BE49-F238E27FC236}">
                    <a16:creationId xmlns:a16="http://schemas.microsoft.com/office/drawing/2014/main" id="{8504740E-456D-4FB9-9520-4317CCFA71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53" name="Freeform 10">
                <a:extLst>
                  <a:ext uri="{FF2B5EF4-FFF2-40B4-BE49-F238E27FC236}">
                    <a16:creationId xmlns:a16="http://schemas.microsoft.com/office/drawing/2014/main" id="{1563A7B4-B1D5-4F93-AFF9-2EB78655FC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54" name="Freeform 11">
                <a:extLst>
                  <a:ext uri="{FF2B5EF4-FFF2-40B4-BE49-F238E27FC236}">
                    <a16:creationId xmlns:a16="http://schemas.microsoft.com/office/drawing/2014/main" id="{D139ED24-FA37-4470-8B42-D0D00EDE1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55" name="Freeform 12">
                <a:extLst>
                  <a:ext uri="{FF2B5EF4-FFF2-40B4-BE49-F238E27FC236}">
                    <a16:creationId xmlns:a16="http://schemas.microsoft.com/office/drawing/2014/main" id="{48825AA7-BB26-45C2-93A2-1AD8D9A232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56" name="Freeform 13">
                <a:extLst>
                  <a:ext uri="{FF2B5EF4-FFF2-40B4-BE49-F238E27FC236}">
                    <a16:creationId xmlns:a16="http://schemas.microsoft.com/office/drawing/2014/main" id="{A98D0B91-D4E4-402D-8234-E96987219E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57" name="Freeform 14">
                <a:extLst>
                  <a:ext uri="{FF2B5EF4-FFF2-40B4-BE49-F238E27FC236}">
                    <a16:creationId xmlns:a16="http://schemas.microsoft.com/office/drawing/2014/main" id="{94F1DB97-3769-4DA5-9F45-47132C3125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58" name="Freeform 15">
                <a:extLst>
                  <a:ext uri="{FF2B5EF4-FFF2-40B4-BE49-F238E27FC236}">
                    <a16:creationId xmlns:a16="http://schemas.microsoft.com/office/drawing/2014/main" id="{A9BC86E2-B185-4D80-81B5-A8D387E67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59" name="Line 16">
                <a:extLst>
                  <a:ext uri="{FF2B5EF4-FFF2-40B4-BE49-F238E27FC236}">
                    <a16:creationId xmlns:a16="http://schemas.microsoft.com/office/drawing/2014/main" id="{FA773F49-8CD0-46DC-B986-F2DB57BD72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60" name="Freeform 17">
                <a:extLst>
                  <a:ext uri="{FF2B5EF4-FFF2-40B4-BE49-F238E27FC236}">
                    <a16:creationId xmlns:a16="http://schemas.microsoft.com/office/drawing/2014/main" id="{8C55A009-3401-4888-93C7-4ED51CBC64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61" name="Freeform 18">
                <a:extLst>
                  <a:ext uri="{FF2B5EF4-FFF2-40B4-BE49-F238E27FC236}">
                    <a16:creationId xmlns:a16="http://schemas.microsoft.com/office/drawing/2014/main" id="{10B44829-5BB5-48C5-8492-699971FE7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62" name="Freeform 19">
                <a:extLst>
                  <a:ext uri="{FF2B5EF4-FFF2-40B4-BE49-F238E27FC236}">
                    <a16:creationId xmlns:a16="http://schemas.microsoft.com/office/drawing/2014/main" id="{30C1F9A0-4FA6-4F6F-B2D0-A1BBA41DF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63" name="Freeform 20">
                <a:extLst>
                  <a:ext uri="{FF2B5EF4-FFF2-40B4-BE49-F238E27FC236}">
                    <a16:creationId xmlns:a16="http://schemas.microsoft.com/office/drawing/2014/main" id="{01BF274F-C7B8-44B4-A183-307D8619D2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64" name="Rectangle 21">
                <a:extLst>
                  <a:ext uri="{FF2B5EF4-FFF2-40B4-BE49-F238E27FC236}">
                    <a16:creationId xmlns:a16="http://schemas.microsoft.com/office/drawing/2014/main" id="{037E8930-0F22-4558-9432-F18953E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65" name="Freeform 22">
                <a:extLst>
                  <a:ext uri="{FF2B5EF4-FFF2-40B4-BE49-F238E27FC236}">
                    <a16:creationId xmlns:a16="http://schemas.microsoft.com/office/drawing/2014/main" id="{9AFC3429-FF29-47FF-A4A8-317A979DB9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66" name="Freeform 23">
                <a:extLst>
                  <a:ext uri="{FF2B5EF4-FFF2-40B4-BE49-F238E27FC236}">
                    <a16:creationId xmlns:a16="http://schemas.microsoft.com/office/drawing/2014/main" id="{91D48543-2C05-4768-80B1-ECA6F88508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67" name="Freeform 24">
                <a:extLst>
                  <a:ext uri="{FF2B5EF4-FFF2-40B4-BE49-F238E27FC236}">
                    <a16:creationId xmlns:a16="http://schemas.microsoft.com/office/drawing/2014/main" id="{3AC527CC-154C-4370-A25B-74AC5B4A6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68" name="Freeform 25">
                <a:extLst>
                  <a:ext uri="{FF2B5EF4-FFF2-40B4-BE49-F238E27FC236}">
                    <a16:creationId xmlns:a16="http://schemas.microsoft.com/office/drawing/2014/main" id="{798B18F5-51C9-4E50-95C5-A850EF539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69" name="Freeform 26">
                <a:extLst>
                  <a:ext uri="{FF2B5EF4-FFF2-40B4-BE49-F238E27FC236}">
                    <a16:creationId xmlns:a16="http://schemas.microsoft.com/office/drawing/2014/main" id="{15B4CF27-638C-4979-B0FD-6263E13074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70" name="Freeform 27">
                <a:extLst>
                  <a:ext uri="{FF2B5EF4-FFF2-40B4-BE49-F238E27FC236}">
                    <a16:creationId xmlns:a16="http://schemas.microsoft.com/office/drawing/2014/main" id="{236C6A22-48A2-4442-B82D-30DB498272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71" name="Freeform 28">
                <a:extLst>
                  <a:ext uri="{FF2B5EF4-FFF2-40B4-BE49-F238E27FC236}">
                    <a16:creationId xmlns:a16="http://schemas.microsoft.com/office/drawing/2014/main" id="{1BB7BCE1-0D99-412E-ABA6-81412638E9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72" name="Freeform 29">
                <a:extLst>
                  <a:ext uri="{FF2B5EF4-FFF2-40B4-BE49-F238E27FC236}">
                    <a16:creationId xmlns:a16="http://schemas.microsoft.com/office/drawing/2014/main" id="{C20E57E0-0912-44F2-93DA-75E4D13F3B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73" name="Freeform 30">
                <a:extLst>
                  <a:ext uri="{FF2B5EF4-FFF2-40B4-BE49-F238E27FC236}">
                    <a16:creationId xmlns:a16="http://schemas.microsoft.com/office/drawing/2014/main" id="{DF059390-54ED-44F4-983F-92FF36AD9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74" name="Freeform 31">
                <a:extLst>
                  <a:ext uri="{FF2B5EF4-FFF2-40B4-BE49-F238E27FC236}">
                    <a16:creationId xmlns:a16="http://schemas.microsoft.com/office/drawing/2014/main" id="{42D5E9ED-595D-443D-8CDC-D8FCD4021D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037" name="Group 1036">
              <a:extLst>
                <a:ext uri="{FF2B5EF4-FFF2-40B4-BE49-F238E27FC236}">
                  <a16:creationId xmlns:a16="http://schemas.microsoft.com/office/drawing/2014/main" id="{DB14A457-C54A-4F1E-91FB-0FEE49877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038" name="Freeform 32">
                <a:extLst>
                  <a:ext uri="{FF2B5EF4-FFF2-40B4-BE49-F238E27FC236}">
                    <a16:creationId xmlns:a16="http://schemas.microsoft.com/office/drawing/2014/main" id="{791F3E2E-D393-464E-84B4-9B30D071AD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39" name="Freeform 33">
                <a:extLst>
                  <a:ext uri="{FF2B5EF4-FFF2-40B4-BE49-F238E27FC236}">
                    <a16:creationId xmlns:a16="http://schemas.microsoft.com/office/drawing/2014/main" id="{EBEEAD6F-6425-4F85-A8A8-4FF19A909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40" name="Freeform 34">
                <a:extLst>
                  <a:ext uri="{FF2B5EF4-FFF2-40B4-BE49-F238E27FC236}">
                    <a16:creationId xmlns:a16="http://schemas.microsoft.com/office/drawing/2014/main" id="{8AACA44E-9D6C-4708-8D61-D767B6620B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41" name="Freeform 35">
                <a:extLst>
                  <a:ext uri="{FF2B5EF4-FFF2-40B4-BE49-F238E27FC236}">
                    <a16:creationId xmlns:a16="http://schemas.microsoft.com/office/drawing/2014/main" id="{B6E3525F-9937-463E-872C-8EB7C62D1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42" name="Freeform 36">
                <a:extLst>
                  <a:ext uri="{FF2B5EF4-FFF2-40B4-BE49-F238E27FC236}">
                    <a16:creationId xmlns:a16="http://schemas.microsoft.com/office/drawing/2014/main" id="{BE829B0B-C602-40F1-81D1-A55332343D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43" name="Freeform 37">
                <a:extLst>
                  <a:ext uri="{FF2B5EF4-FFF2-40B4-BE49-F238E27FC236}">
                    <a16:creationId xmlns:a16="http://schemas.microsoft.com/office/drawing/2014/main" id="{92660531-24B5-4B97-A4A2-64686E235D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44" name="Freeform 38">
                <a:extLst>
                  <a:ext uri="{FF2B5EF4-FFF2-40B4-BE49-F238E27FC236}">
                    <a16:creationId xmlns:a16="http://schemas.microsoft.com/office/drawing/2014/main" id="{6242D0CE-6FFD-4D17-AC26-BD3E48119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45" name="Freeform 39">
                <a:extLst>
                  <a:ext uri="{FF2B5EF4-FFF2-40B4-BE49-F238E27FC236}">
                    <a16:creationId xmlns:a16="http://schemas.microsoft.com/office/drawing/2014/main" id="{61631F37-AF37-4DB9-8D98-A08586C76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46" name="Freeform 40">
                <a:extLst>
                  <a:ext uri="{FF2B5EF4-FFF2-40B4-BE49-F238E27FC236}">
                    <a16:creationId xmlns:a16="http://schemas.microsoft.com/office/drawing/2014/main" id="{2A2597FF-2F22-40BB-A7B3-19C4DFCFFA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47" name="Rectangle 41">
                <a:extLst>
                  <a:ext uri="{FF2B5EF4-FFF2-40B4-BE49-F238E27FC236}">
                    <a16:creationId xmlns:a16="http://schemas.microsoft.com/office/drawing/2014/main" id="{DCC8773C-0113-4046-B222-C8F4080AF3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pic>
        <p:nvPicPr>
          <p:cNvPr id="1076" name="Picture 2">
            <a:extLst>
              <a:ext uri="{FF2B5EF4-FFF2-40B4-BE49-F238E27FC236}">
                <a16:creationId xmlns:a16="http://schemas.microsoft.com/office/drawing/2014/main" id="{1B17CCE2-CEEF-40CA-8C4D-0DC2DCA78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6979691-E861-F010-3C2B-4D903CDA9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zh-TW" altLang="en-US">
                <a:solidFill>
                  <a:srgbClr val="FFFFFF"/>
                </a:solidFill>
              </a:rPr>
              <a:t>基本型態</a:t>
            </a:r>
          </a:p>
        </p:txBody>
      </p:sp>
      <p:sp useBgFill="1">
        <p:nvSpPr>
          <p:cNvPr id="1078" name="Round Diagonal Corner Rectangle 9">
            <a:extLst>
              <a:ext uri="{FF2B5EF4-FFF2-40B4-BE49-F238E27FC236}">
                <a16:creationId xmlns:a16="http://schemas.microsoft.com/office/drawing/2014/main" id="{66D4F5BA-1D71-49B2-8A7F-6B4EB94D7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41B835D-6204-B767-F565-7DE5E8B4F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98411" y="1147145"/>
            <a:ext cx="4076737" cy="456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9A5314C0-3FE7-A409-4760-264147444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True or false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Boolean</a:t>
            </a:r>
          </a:p>
          <a:p>
            <a:r>
              <a:rPr lang="zh-TW" altLang="en-US" dirty="0">
                <a:solidFill>
                  <a:srgbClr val="FFFFFF"/>
                </a:solidFill>
              </a:rPr>
              <a:t>字元類型</a:t>
            </a:r>
            <a:endParaRPr lang="en-US" altLang="zh-TW" dirty="0">
              <a:solidFill>
                <a:srgbClr val="FFFFFF"/>
              </a:solidFill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Char</a:t>
            </a:r>
          </a:p>
          <a:p>
            <a:r>
              <a:rPr lang="zh-TW" altLang="en-US" dirty="0">
                <a:solidFill>
                  <a:srgbClr val="FFFFFF"/>
                </a:solidFill>
              </a:rPr>
              <a:t>整數類型</a:t>
            </a:r>
            <a:endParaRPr lang="en-US" altLang="zh-TW" dirty="0">
              <a:solidFill>
                <a:srgbClr val="FFFFFF"/>
              </a:solidFill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byte</a:t>
            </a:r>
            <a:r>
              <a:rPr lang="zh-TW" altLang="en-US" dirty="0">
                <a:solidFill>
                  <a:srgbClr val="FFFFFF"/>
                </a:solidFill>
              </a:rPr>
              <a:t>、</a:t>
            </a:r>
            <a:r>
              <a:rPr lang="en-US" altLang="zh-TW" dirty="0">
                <a:solidFill>
                  <a:srgbClr val="FFFFFF"/>
                </a:solidFill>
              </a:rPr>
              <a:t>short</a:t>
            </a:r>
            <a:r>
              <a:rPr lang="zh-TW" altLang="en-US" dirty="0">
                <a:solidFill>
                  <a:srgbClr val="FFFFFF"/>
                </a:solidFill>
              </a:rPr>
              <a:t>、</a:t>
            </a:r>
            <a:r>
              <a:rPr lang="en-US" altLang="zh-TW" dirty="0">
                <a:solidFill>
                  <a:srgbClr val="FFFFFF"/>
                </a:solidFill>
              </a:rPr>
              <a:t>int</a:t>
            </a:r>
            <a:r>
              <a:rPr lang="zh-TW" altLang="en-US" dirty="0">
                <a:solidFill>
                  <a:srgbClr val="FFFFFF"/>
                </a:solidFill>
              </a:rPr>
              <a:t>、</a:t>
            </a:r>
            <a:r>
              <a:rPr lang="en-US" altLang="zh-TW" dirty="0">
                <a:solidFill>
                  <a:srgbClr val="FFFFFF"/>
                </a:solidFill>
              </a:rPr>
              <a:t>long</a:t>
            </a:r>
          </a:p>
          <a:p>
            <a:r>
              <a:rPr lang="zh-TW" altLang="en-US" dirty="0">
                <a:solidFill>
                  <a:srgbClr val="FFFFFF"/>
                </a:solidFill>
              </a:rPr>
              <a:t>浮點數</a:t>
            </a:r>
            <a:endParaRPr lang="en-US" altLang="zh-TW" dirty="0">
              <a:solidFill>
                <a:srgbClr val="FFFFFF"/>
              </a:solidFill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float</a:t>
            </a:r>
            <a:r>
              <a:rPr lang="zh-TW" altLang="en-US" dirty="0">
                <a:solidFill>
                  <a:srgbClr val="FFFFFF"/>
                </a:solidFill>
              </a:rPr>
              <a:t>、</a:t>
            </a:r>
            <a:r>
              <a:rPr lang="en-US" altLang="zh-TW" dirty="0">
                <a:solidFill>
                  <a:srgbClr val="FFFFFF"/>
                </a:solidFill>
              </a:rPr>
              <a:t>double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061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BBD4D9-FB35-C77A-6AB8-5F7EDDBF6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整數類型</a:t>
            </a:r>
            <a:r>
              <a:rPr lang="en-US" altLang="zh-TW" dirty="0"/>
              <a:t>-</a:t>
            </a:r>
            <a:r>
              <a:rPr lang="zh-TW" altLang="en-US" dirty="0"/>
              <a:t>寫個程式一下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63CA0B-4C65-FEF7-3E24-F6A989E7A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Byte</a:t>
            </a:r>
          </a:p>
          <a:p>
            <a:r>
              <a:rPr lang="en-US" altLang="zh-TW" dirty="0"/>
              <a:t>Short</a:t>
            </a:r>
          </a:p>
          <a:p>
            <a:r>
              <a:rPr lang="en-US" altLang="zh-TW" dirty="0"/>
              <a:t>Int</a:t>
            </a:r>
          </a:p>
          <a:p>
            <a:r>
              <a:rPr lang="en-US" altLang="zh-TW" dirty="0"/>
              <a:t>Long</a:t>
            </a:r>
          </a:p>
          <a:p>
            <a:r>
              <a:rPr lang="zh-TW" altLang="en-US" dirty="0"/>
              <a:t>數值之間可以用底線分隔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IntgerValTest.java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17765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A4BAB6-254D-1353-203C-9E25211D5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整數類型</a:t>
            </a:r>
            <a:r>
              <a:rPr lang="en-US" altLang="zh-TW" dirty="0"/>
              <a:t>-</a:t>
            </a:r>
            <a:r>
              <a:rPr lang="zh-TW" altLang="en-US" dirty="0"/>
              <a:t>寫個程式一下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F3EEAC-5FEC-4049-562B-9DE096D93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二進位、</a:t>
            </a:r>
            <a:r>
              <a:rPr lang="en-US" altLang="zh-TW" dirty="0"/>
              <a:t>8</a:t>
            </a:r>
            <a:r>
              <a:rPr lang="zh-TW" altLang="en-US" dirty="0"/>
              <a:t>進位、</a:t>
            </a:r>
            <a:r>
              <a:rPr lang="en-US" altLang="zh-TW" dirty="0"/>
              <a:t>16</a:t>
            </a:r>
            <a:r>
              <a:rPr lang="zh-TW" altLang="en-US" dirty="0"/>
              <a:t>進位</a:t>
            </a:r>
            <a:endParaRPr lang="en-US" altLang="zh-TW" dirty="0"/>
          </a:p>
          <a:p>
            <a:r>
              <a:rPr lang="en-US" altLang="zh-TW" dirty="0"/>
              <a:t>0b </a:t>
            </a:r>
            <a:r>
              <a:rPr lang="zh-TW" altLang="en-US" dirty="0"/>
              <a:t>、 </a:t>
            </a:r>
            <a:r>
              <a:rPr lang="en-US" altLang="zh-TW" dirty="0"/>
              <a:t>0</a:t>
            </a:r>
            <a:r>
              <a:rPr lang="zh-TW" altLang="en-US" dirty="0"/>
              <a:t>、 </a:t>
            </a:r>
            <a:r>
              <a:rPr lang="en-US" altLang="zh-TW" dirty="0"/>
              <a:t>0x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1689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2056">
            <a:extLst>
              <a:ext uri="{FF2B5EF4-FFF2-40B4-BE49-F238E27FC236}">
                <a16:creationId xmlns:a16="http://schemas.microsoft.com/office/drawing/2014/main" id="{9775AF3B-5284-4B97-9BB7-55C6FB369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A0F1F7ED-DA39-478F-85DA-317DE0894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2060" name="Group 2059">
              <a:extLst>
                <a:ext uri="{FF2B5EF4-FFF2-40B4-BE49-F238E27FC236}">
                  <a16:creationId xmlns:a16="http://schemas.microsoft.com/office/drawing/2014/main" id="{1DAE5903-52E8-4F25-8473-93EF48377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072" name="Rectangle 5">
                <a:extLst>
                  <a:ext uri="{FF2B5EF4-FFF2-40B4-BE49-F238E27FC236}">
                    <a16:creationId xmlns:a16="http://schemas.microsoft.com/office/drawing/2014/main" id="{894835C1-32DE-4571-AD10-28D58CB8CF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3" name="Freeform 6">
                <a:extLst>
                  <a:ext uri="{FF2B5EF4-FFF2-40B4-BE49-F238E27FC236}">
                    <a16:creationId xmlns:a16="http://schemas.microsoft.com/office/drawing/2014/main" id="{097A5B92-0B48-4251-9764-D34DF8892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4" name="Freeform 7">
                <a:extLst>
                  <a:ext uri="{FF2B5EF4-FFF2-40B4-BE49-F238E27FC236}">
                    <a16:creationId xmlns:a16="http://schemas.microsoft.com/office/drawing/2014/main" id="{E222BF19-57E7-43F3-A2B9-2398BEF966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5" name="Freeform 8">
                <a:extLst>
                  <a:ext uri="{FF2B5EF4-FFF2-40B4-BE49-F238E27FC236}">
                    <a16:creationId xmlns:a16="http://schemas.microsoft.com/office/drawing/2014/main" id="{60C8836E-B7D9-48A9-8FD9-4CC52AF44D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6" name="Freeform 9">
                <a:extLst>
                  <a:ext uri="{FF2B5EF4-FFF2-40B4-BE49-F238E27FC236}">
                    <a16:creationId xmlns:a16="http://schemas.microsoft.com/office/drawing/2014/main" id="{8504740E-456D-4FB9-9520-4317CCFA71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7" name="Freeform 10">
                <a:extLst>
                  <a:ext uri="{FF2B5EF4-FFF2-40B4-BE49-F238E27FC236}">
                    <a16:creationId xmlns:a16="http://schemas.microsoft.com/office/drawing/2014/main" id="{1563A7B4-B1D5-4F93-AFF9-2EB78655FC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8" name="Freeform 11">
                <a:extLst>
                  <a:ext uri="{FF2B5EF4-FFF2-40B4-BE49-F238E27FC236}">
                    <a16:creationId xmlns:a16="http://schemas.microsoft.com/office/drawing/2014/main" id="{D139ED24-FA37-4470-8B42-D0D00EDE1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9" name="Freeform 12">
                <a:extLst>
                  <a:ext uri="{FF2B5EF4-FFF2-40B4-BE49-F238E27FC236}">
                    <a16:creationId xmlns:a16="http://schemas.microsoft.com/office/drawing/2014/main" id="{48825AA7-BB26-45C2-93A2-1AD8D9A232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0" name="Freeform 13">
                <a:extLst>
                  <a:ext uri="{FF2B5EF4-FFF2-40B4-BE49-F238E27FC236}">
                    <a16:creationId xmlns:a16="http://schemas.microsoft.com/office/drawing/2014/main" id="{A98D0B91-D4E4-402D-8234-E96987219E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1" name="Freeform 14">
                <a:extLst>
                  <a:ext uri="{FF2B5EF4-FFF2-40B4-BE49-F238E27FC236}">
                    <a16:creationId xmlns:a16="http://schemas.microsoft.com/office/drawing/2014/main" id="{94F1DB97-3769-4DA5-9F45-47132C3125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2" name="Freeform 15">
                <a:extLst>
                  <a:ext uri="{FF2B5EF4-FFF2-40B4-BE49-F238E27FC236}">
                    <a16:creationId xmlns:a16="http://schemas.microsoft.com/office/drawing/2014/main" id="{A9BC86E2-B185-4D80-81B5-A8D387E67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3" name="Line 16">
                <a:extLst>
                  <a:ext uri="{FF2B5EF4-FFF2-40B4-BE49-F238E27FC236}">
                    <a16:creationId xmlns:a16="http://schemas.microsoft.com/office/drawing/2014/main" id="{FA773F49-8CD0-46DC-B986-F2DB57BD72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4" name="Freeform 17">
                <a:extLst>
                  <a:ext uri="{FF2B5EF4-FFF2-40B4-BE49-F238E27FC236}">
                    <a16:creationId xmlns:a16="http://schemas.microsoft.com/office/drawing/2014/main" id="{8C55A009-3401-4888-93C7-4ED51CBC64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5" name="Freeform 18">
                <a:extLst>
                  <a:ext uri="{FF2B5EF4-FFF2-40B4-BE49-F238E27FC236}">
                    <a16:creationId xmlns:a16="http://schemas.microsoft.com/office/drawing/2014/main" id="{10B44829-5BB5-48C5-8492-699971FE7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6" name="Freeform 19">
                <a:extLst>
                  <a:ext uri="{FF2B5EF4-FFF2-40B4-BE49-F238E27FC236}">
                    <a16:creationId xmlns:a16="http://schemas.microsoft.com/office/drawing/2014/main" id="{30C1F9A0-4FA6-4F6F-B2D0-A1BBA41DF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7" name="Freeform 20">
                <a:extLst>
                  <a:ext uri="{FF2B5EF4-FFF2-40B4-BE49-F238E27FC236}">
                    <a16:creationId xmlns:a16="http://schemas.microsoft.com/office/drawing/2014/main" id="{01BF274F-C7B8-44B4-A183-307D8619D2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8" name="Rectangle 21">
                <a:extLst>
                  <a:ext uri="{FF2B5EF4-FFF2-40B4-BE49-F238E27FC236}">
                    <a16:creationId xmlns:a16="http://schemas.microsoft.com/office/drawing/2014/main" id="{037E8930-0F22-4558-9432-F18953E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89" name="Freeform 22">
                <a:extLst>
                  <a:ext uri="{FF2B5EF4-FFF2-40B4-BE49-F238E27FC236}">
                    <a16:creationId xmlns:a16="http://schemas.microsoft.com/office/drawing/2014/main" id="{9AFC3429-FF29-47FF-A4A8-317A979DB9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0" name="Freeform 23">
                <a:extLst>
                  <a:ext uri="{FF2B5EF4-FFF2-40B4-BE49-F238E27FC236}">
                    <a16:creationId xmlns:a16="http://schemas.microsoft.com/office/drawing/2014/main" id="{91D48543-2C05-4768-80B1-ECA6F88508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1" name="Freeform 24">
                <a:extLst>
                  <a:ext uri="{FF2B5EF4-FFF2-40B4-BE49-F238E27FC236}">
                    <a16:creationId xmlns:a16="http://schemas.microsoft.com/office/drawing/2014/main" id="{3AC527CC-154C-4370-A25B-74AC5B4A6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2" name="Freeform 25">
                <a:extLst>
                  <a:ext uri="{FF2B5EF4-FFF2-40B4-BE49-F238E27FC236}">
                    <a16:creationId xmlns:a16="http://schemas.microsoft.com/office/drawing/2014/main" id="{798B18F5-51C9-4E50-95C5-A850EF539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3" name="Freeform 26">
                <a:extLst>
                  <a:ext uri="{FF2B5EF4-FFF2-40B4-BE49-F238E27FC236}">
                    <a16:creationId xmlns:a16="http://schemas.microsoft.com/office/drawing/2014/main" id="{15B4CF27-638C-4979-B0FD-6263E13074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4" name="Freeform 27">
                <a:extLst>
                  <a:ext uri="{FF2B5EF4-FFF2-40B4-BE49-F238E27FC236}">
                    <a16:creationId xmlns:a16="http://schemas.microsoft.com/office/drawing/2014/main" id="{236C6A22-48A2-4442-B82D-30DB498272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5" name="Freeform 28">
                <a:extLst>
                  <a:ext uri="{FF2B5EF4-FFF2-40B4-BE49-F238E27FC236}">
                    <a16:creationId xmlns:a16="http://schemas.microsoft.com/office/drawing/2014/main" id="{1BB7BCE1-0D99-412E-ABA6-81412638E9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6" name="Freeform 29">
                <a:extLst>
                  <a:ext uri="{FF2B5EF4-FFF2-40B4-BE49-F238E27FC236}">
                    <a16:creationId xmlns:a16="http://schemas.microsoft.com/office/drawing/2014/main" id="{C20E57E0-0912-44F2-93DA-75E4D13F3B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7" name="Freeform 30">
                <a:extLst>
                  <a:ext uri="{FF2B5EF4-FFF2-40B4-BE49-F238E27FC236}">
                    <a16:creationId xmlns:a16="http://schemas.microsoft.com/office/drawing/2014/main" id="{DF059390-54ED-44F4-983F-92FF36AD9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98" name="Freeform 31">
                <a:extLst>
                  <a:ext uri="{FF2B5EF4-FFF2-40B4-BE49-F238E27FC236}">
                    <a16:creationId xmlns:a16="http://schemas.microsoft.com/office/drawing/2014/main" id="{42D5E9ED-595D-443D-8CDC-D8FCD4021D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2061" name="Group 2060">
              <a:extLst>
                <a:ext uri="{FF2B5EF4-FFF2-40B4-BE49-F238E27FC236}">
                  <a16:creationId xmlns:a16="http://schemas.microsoft.com/office/drawing/2014/main" id="{DB14A457-C54A-4F1E-91FB-0FEE49877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062" name="Freeform 32">
                <a:extLst>
                  <a:ext uri="{FF2B5EF4-FFF2-40B4-BE49-F238E27FC236}">
                    <a16:creationId xmlns:a16="http://schemas.microsoft.com/office/drawing/2014/main" id="{791F3E2E-D393-464E-84B4-9B30D071AD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63" name="Freeform 33">
                <a:extLst>
                  <a:ext uri="{FF2B5EF4-FFF2-40B4-BE49-F238E27FC236}">
                    <a16:creationId xmlns:a16="http://schemas.microsoft.com/office/drawing/2014/main" id="{EBEEAD6F-6425-4F85-A8A8-4FF19A909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64" name="Freeform 34">
                <a:extLst>
                  <a:ext uri="{FF2B5EF4-FFF2-40B4-BE49-F238E27FC236}">
                    <a16:creationId xmlns:a16="http://schemas.microsoft.com/office/drawing/2014/main" id="{8AACA44E-9D6C-4708-8D61-D767B6620B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65" name="Freeform 35">
                <a:extLst>
                  <a:ext uri="{FF2B5EF4-FFF2-40B4-BE49-F238E27FC236}">
                    <a16:creationId xmlns:a16="http://schemas.microsoft.com/office/drawing/2014/main" id="{B6E3525F-9937-463E-872C-8EB7C62D1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66" name="Freeform 36">
                <a:extLst>
                  <a:ext uri="{FF2B5EF4-FFF2-40B4-BE49-F238E27FC236}">
                    <a16:creationId xmlns:a16="http://schemas.microsoft.com/office/drawing/2014/main" id="{BE829B0B-C602-40F1-81D1-A55332343D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67" name="Freeform 37">
                <a:extLst>
                  <a:ext uri="{FF2B5EF4-FFF2-40B4-BE49-F238E27FC236}">
                    <a16:creationId xmlns:a16="http://schemas.microsoft.com/office/drawing/2014/main" id="{92660531-24B5-4B97-A4A2-64686E235D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68" name="Freeform 38">
                <a:extLst>
                  <a:ext uri="{FF2B5EF4-FFF2-40B4-BE49-F238E27FC236}">
                    <a16:creationId xmlns:a16="http://schemas.microsoft.com/office/drawing/2014/main" id="{6242D0CE-6FFD-4D17-AC26-BD3E48119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69" name="Freeform 39">
                <a:extLst>
                  <a:ext uri="{FF2B5EF4-FFF2-40B4-BE49-F238E27FC236}">
                    <a16:creationId xmlns:a16="http://schemas.microsoft.com/office/drawing/2014/main" id="{61631F37-AF37-4DB9-8D98-A08586C76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0" name="Freeform 40">
                <a:extLst>
                  <a:ext uri="{FF2B5EF4-FFF2-40B4-BE49-F238E27FC236}">
                    <a16:creationId xmlns:a16="http://schemas.microsoft.com/office/drawing/2014/main" id="{2A2597FF-2F22-40BB-A7B3-19C4DFCFFA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71" name="Rectangle 41">
                <a:extLst>
                  <a:ext uri="{FF2B5EF4-FFF2-40B4-BE49-F238E27FC236}">
                    <a16:creationId xmlns:a16="http://schemas.microsoft.com/office/drawing/2014/main" id="{DCC8773C-0113-4046-B222-C8F4080AF3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pic>
        <p:nvPicPr>
          <p:cNvPr id="2100" name="Picture 2">
            <a:extLst>
              <a:ext uri="{FF2B5EF4-FFF2-40B4-BE49-F238E27FC236}">
                <a16:creationId xmlns:a16="http://schemas.microsoft.com/office/drawing/2014/main" id="{1B17CCE2-CEEF-40CA-8C4D-0DC2DCA78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E83349C-016D-01DB-7A62-AE3E6D6F8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rgbClr val="FFFFFF"/>
                </a:solidFill>
              </a:rPr>
              <a:t>字元類型</a:t>
            </a:r>
          </a:p>
        </p:txBody>
      </p:sp>
      <p:sp useBgFill="1">
        <p:nvSpPr>
          <p:cNvPr id="2102" name="Round Diagonal Corner Rectangle 9">
            <a:extLst>
              <a:ext uri="{FF2B5EF4-FFF2-40B4-BE49-F238E27FC236}">
                <a16:creationId xmlns:a16="http://schemas.microsoft.com/office/drawing/2014/main" id="{66D4F5BA-1D71-49B2-8A7F-6B4EB94D7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0B3D20E-8772-146A-E6B3-DC445C015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988" y="1420348"/>
            <a:ext cx="4635583" cy="402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C557D0D0-6F66-6D04-613A-03376F94D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rgbClr val="FFFFFF"/>
                </a:solidFill>
              </a:rPr>
              <a:t>三種表現形式</a:t>
            </a:r>
            <a:endParaRPr lang="en-US" altLang="zh-TW" dirty="0">
              <a:solidFill>
                <a:srgbClr val="FFFFFF"/>
              </a:solidFill>
            </a:endParaRPr>
          </a:p>
          <a:p>
            <a:pPr lvl="1"/>
            <a:r>
              <a:rPr lang="zh-TW" altLang="en-US" dirty="0">
                <a:solidFill>
                  <a:srgbClr val="FFFFFF"/>
                </a:solidFill>
              </a:rPr>
              <a:t>單個字元</a:t>
            </a:r>
            <a:endParaRPr lang="en-US" altLang="zh-TW" dirty="0">
              <a:solidFill>
                <a:srgbClr val="FFFFFF"/>
              </a:solidFill>
            </a:endParaRPr>
          </a:p>
          <a:p>
            <a:pPr lvl="1"/>
            <a:r>
              <a:rPr lang="zh-TW" altLang="en-US" dirty="0">
                <a:solidFill>
                  <a:srgbClr val="FFFFFF"/>
                </a:solidFill>
              </a:rPr>
              <a:t>跳脫字元</a:t>
            </a:r>
            <a:endParaRPr lang="en-US" altLang="zh-TW" dirty="0">
              <a:solidFill>
                <a:srgbClr val="FFFFFF"/>
              </a:solidFill>
            </a:endParaRPr>
          </a:p>
          <a:p>
            <a:pPr lvl="1"/>
            <a:r>
              <a:rPr lang="en-US" dirty="0" err="1">
                <a:solidFill>
                  <a:srgbClr val="FFFFFF"/>
                </a:solidFill>
              </a:rPr>
              <a:t>unicode</a:t>
            </a:r>
            <a:r>
              <a:rPr lang="zh-TW" altLang="en-US" dirty="0">
                <a:solidFill>
                  <a:srgbClr val="FFFFFF"/>
                </a:solidFill>
              </a:rPr>
              <a:t>表示方法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430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413720B-BC52-F85D-EC05-653B3573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zh-TW" altLang="en-US" sz="3200"/>
              <a:t>字元類型</a:t>
            </a:r>
            <a:r>
              <a:rPr lang="en-US" altLang="zh-TW" sz="3200"/>
              <a:t>-</a:t>
            </a:r>
            <a:r>
              <a:rPr lang="zh-TW" altLang="en-US" sz="3200"/>
              <a:t>寫個程式一下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2D4A169-CB33-025B-3FFB-D2ECD711A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r>
              <a:rPr lang="zh-TW" altLang="en-US" sz="2000" dirty="0"/>
              <a:t>字元類型</a:t>
            </a:r>
            <a:endParaRPr lang="en-US" altLang="zh-TW" sz="2000" dirty="0"/>
          </a:p>
          <a:p>
            <a:r>
              <a:rPr lang="zh-TW" altLang="en-US" sz="2000" dirty="0"/>
              <a:t>另外討論字串類型</a:t>
            </a:r>
            <a:r>
              <a:rPr lang="en-US" altLang="zh-TW" sz="2000" dirty="0"/>
              <a:t>(</a:t>
            </a:r>
            <a:r>
              <a:rPr lang="en-US" altLang="zh-TW" sz="2000"/>
              <a:t>String) https://ithelp.ithome.com.tw/articles/10322809</a:t>
            </a:r>
            <a:endParaRPr lang="en-US" sz="2000" dirty="0"/>
          </a:p>
        </p:txBody>
      </p:sp>
      <p:pic>
        <p:nvPicPr>
          <p:cNvPr id="5" name="內容版面配置區 4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5ABA0E04-4167-8647-C442-1128CF244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977" y="618518"/>
            <a:ext cx="5162324" cy="5596015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27" name="Group 15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8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1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2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3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6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7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8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9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0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1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2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3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4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5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6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7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8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9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2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3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4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52429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6D132-3F55-A866-7DAA-B3772B70E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浮點數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888FF2-5CD5-15E7-3A84-B863473E2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十進位表示法</a:t>
            </a:r>
            <a:r>
              <a:rPr lang="en-US" altLang="zh-TW" dirty="0"/>
              <a:t>: 5.12</a:t>
            </a:r>
            <a:r>
              <a:rPr lang="zh-TW" altLang="en-US" dirty="0"/>
              <a:t>、</a:t>
            </a:r>
            <a:r>
              <a:rPr lang="en-US" altLang="zh-TW" dirty="0"/>
              <a:t>512.0</a:t>
            </a:r>
            <a:r>
              <a:rPr lang="zh-TW" altLang="en-US" dirty="0"/>
              <a:t>、</a:t>
            </a:r>
            <a:r>
              <a:rPr lang="en-US" altLang="zh-TW" dirty="0"/>
              <a:t>.512</a:t>
            </a:r>
          </a:p>
          <a:p>
            <a:r>
              <a:rPr lang="zh-TW" altLang="en-US" dirty="0"/>
              <a:t>科學記號表示法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5.12e2</a:t>
            </a:r>
            <a:r>
              <a:rPr lang="zh-TW" altLang="en-US" dirty="0"/>
              <a:t> </a:t>
            </a:r>
            <a:r>
              <a:rPr lang="en-US" altLang="zh-TW" dirty="0"/>
              <a:t>(5.12*(10^2))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FloatVlueTest.java</a:t>
            </a:r>
          </a:p>
        </p:txBody>
      </p:sp>
    </p:spTree>
    <p:extLst>
      <p:ext uri="{BB962C8B-B14F-4D97-AF65-F5344CB8AC3E}">
        <p14:creationId xmlns:p14="http://schemas.microsoft.com/office/powerpoint/2010/main" val="27723255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CF3A94-2C84-7F54-C4A6-FA69BA01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數值使用底線分隔</a:t>
            </a:r>
          </a:p>
        </p:txBody>
      </p:sp>
      <p:pic>
        <p:nvPicPr>
          <p:cNvPr id="5" name="內容版面配置區 4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F31AFD72-0177-C8A0-1558-FB383192F4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6200" y="2042164"/>
            <a:ext cx="5891213" cy="2299009"/>
          </a:xfrm>
          <a:prstGeom prst="rect">
            <a:avLst/>
          </a:prstGeom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B624B8-6E0B-134F-C8A2-844C68855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TW" dirty="0"/>
              <a:t>UnderscoreTest.java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0135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0544D2-C18C-F6CE-0205-69EBA94A5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布林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299684-8002-7F09-5EC3-6F18912FA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主要用來控制流程</a:t>
            </a:r>
            <a:endParaRPr lang="en-US" altLang="zh-TW" dirty="0"/>
          </a:p>
          <a:p>
            <a:pPr lvl="1"/>
            <a:r>
              <a:rPr lang="en-US" altLang="zh-TW" dirty="0"/>
              <a:t>If</a:t>
            </a:r>
          </a:p>
          <a:p>
            <a:pPr lvl="1"/>
            <a:r>
              <a:rPr lang="en-US" altLang="zh-TW" dirty="0"/>
              <a:t>While</a:t>
            </a:r>
          </a:p>
          <a:p>
            <a:pPr lvl="1"/>
            <a:r>
              <a:rPr lang="en-US" altLang="zh-TW" dirty="0"/>
              <a:t>Do</a:t>
            </a:r>
          </a:p>
          <a:p>
            <a:pPr lvl="1"/>
            <a:r>
              <a:rPr lang="en-US" altLang="zh-TW" dirty="0"/>
              <a:t>for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28648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3082" name="Group 3081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3094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95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96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97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98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99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00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01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02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03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04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05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06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07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08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09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10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11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12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13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14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15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16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17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18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19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20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3083" name="Group 3082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3084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85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86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87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88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89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90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91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92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93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3122" name="Rectangle 3121">
            <a:extLst>
              <a:ext uri="{FF2B5EF4-FFF2-40B4-BE49-F238E27FC236}">
                <a16:creationId xmlns:a16="http://schemas.microsoft.com/office/drawing/2014/main" id="{3CBA50DB-DBC7-4B6E-B3C1-8FF1EA519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24" name="Group 3123">
            <a:extLst>
              <a:ext uri="{FF2B5EF4-FFF2-40B4-BE49-F238E27FC236}">
                <a16:creationId xmlns:a16="http://schemas.microsoft.com/office/drawing/2014/main" id="{1DED8FB6-AF8D-4D98-913D-E6486FEC1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3125" name="Group 3124">
              <a:extLst>
                <a:ext uri="{FF2B5EF4-FFF2-40B4-BE49-F238E27FC236}">
                  <a16:creationId xmlns:a16="http://schemas.microsoft.com/office/drawing/2014/main" id="{0A805ED2-113B-4584-8827-567B5792F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3137" name="Rectangle 5">
                <a:extLst>
                  <a:ext uri="{FF2B5EF4-FFF2-40B4-BE49-F238E27FC236}">
                    <a16:creationId xmlns:a16="http://schemas.microsoft.com/office/drawing/2014/main" id="{C6CF21D8-CC72-4F35-A29E-3AF9E6DA1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38" name="Freeform 6">
                <a:extLst>
                  <a:ext uri="{FF2B5EF4-FFF2-40B4-BE49-F238E27FC236}">
                    <a16:creationId xmlns:a16="http://schemas.microsoft.com/office/drawing/2014/main" id="{8E60A7C3-087D-47B4-AB5A-C8B1042FD2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39" name="Freeform 7">
                <a:extLst>
                  <a:ext uri="{FF2B5EF4-FFF2-40B4-BE49-F238E27FC236}">
                    <a16:creationId xmlns:a16="http://schemas.microsoft.com/office/drawing/2014/main" id="{1885EECE-F6D9-4128-BC90-01583BF269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40" name="Freeform 8">
                <a:extLst>
                  <a:ext uri="{FF2B5EF4-FFF2-40B4-BE49-F238E27FC236}">
                    <a16:creationId xmlns:a16="http://schemas.microsoft.com/office/drawing/2014/main" id="{F44AA128-AA96-4FF2-A1C3-F9D2E7FD38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41" name="Freeform 9">
                <a:extLst>
                  <a:ext uri="{FF2B5EF4-FFF2-40B4-BE49-F238E27FC236}">
                    <a16:creationId xmlns:a16="http://schemas.microsoft.com/office/drawing/2014/main" id="{7E52DC12-230B-4892-B284-F2FE9DE16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42" name="Freeform 10">
                <a:extLst>
                  <a:ext uri="{FF2B5EF4-FFF2-40B4-BE49-F238E27FC236}">
                    <a16:creationId xmlns:a16="http://schemas.microsoft.com/office/drawing/2014/main" id="{A68FBF9E-B81A-41D0-8A03-6CFC30811D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43" name="Freeform 11">
                <a:extLst>
                  <a:ext uri="{FF2B5EF4-FFF2-40B4-BE49-F238E27FC236}">
                    <a16:creationId xmlns:a16="http://schemas.microsoft.com/office/drawing/2014/main" id="{B0047F84-8480-494F-9241-39FF17CFF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44" name="Freeform 12">
                <a:extLst>
                  <a:ext uri="{FF2B5EF4-FFF2-40B4-BE49-F238E27FC236}">
                    <a16:creationId xmlns:a16="http://schemas.microsoft.com/office/drawing/2014/main" id="{8CAF76D8-4B95-4A8E-9EE5-8CCC0A7AD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45" name="Freeform 13">
                <a:extLst>
                  <a:ext uri="{FF2B5EF4-FFF2-40B4-BE49-F238E27FC236}">
                    <a16:creationId xmlns:a16="http://schemas.microsoft.com/office/drawing/2014/main" id="{792F82F3-05A8-4A55-8C5B-81F6678B59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46" name="Freeform 14">
                <a:extLst>
                  <a:ext uri="{FF2B5EF4-FFF2-40B4-BE49-F238E27FC236}">
                    <a16:creationId xmlns:a16="http://schemas.microsoft.com/office/drawing/2014/main" id="{B8472536-021A-4E59-BD59-DDC090A18A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47" name="Freeform 15">
                <a:extLst>
                  <a:ext uri="{FF2B5EF4-FFF2-40B4-BE49-F238E27FC236}">
                    <a16:creationId xmlns:a16="http://schemas.microsoft.com/office/drawing/2014/main" id="{AEBEF646-3C12-469F-B194-A161A7A95D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48" name="Line 16">
                <a:extLst>
                  <a:ext uri="{FF2B5EF4-FFF2-40B4-BE49-F238E27FC236}">
                    <a16:creationId xmlns:a16="http://schemas.microsoft.com/office/drawing/2014/main" id="{D4501159-D7AC-4307-9DFC-C8F3A94341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49" name="Freeform 17">
                <a:extLst>
                  <a:ext uri="{FF2B5EF4-FFF2-40B4-BE49-F238E27FC236}">
                    <a16:creationId xmlns:a16="http://schemas.microsoft.com/office/drawing/2014/main" id="{B5244C41-454C-47D8-A6A9-C17EC2A366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50" name="Freeform 18">
                <a:extLst>
                  <a:ext uri="{FF2B5EF4-FFF2-40B4-BE49-F238E27FC236}">
                    <a16:creationId xmlns:a16="http://schemas.microsoft.com/office/drawing/2014/main" id="{8FA883B8-99FB-4540-B573-F0674BFB1C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51" name="Freeform 19">
                <a:extLst>
                  <a:ext uri="{FF2B5EF4-FFF2-40B4-BE49-F238E27FC236}">
                    <a16:creationId xmlns:a16="http://schemas.microsoft.com/office/drawing/2014/main" id="{F1178B7C-5A00-4E5B-9010-B1477621E0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52" name="Freeform 20">
                <a:extLst>
                  <a:ext uri="{FF2B5EF4-FFF2-40B4-BE49-F238E27FC236}">
                    <a16:creationId xmlns:a16="http://schemas.microsoft.com/office/drawing/2014/main" id="{E359D5D8-EE2E-4714-A40A-C3A6D91F98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53" name="Rectangle 21">
                <a:extLst>
                  <a:ext uri="{FF2B5EF4-FFF2-40B4-BE49-F238E27FC236}">
                    <a16:creationId xmlns:a16="http://schemas.microsoft.com/office/drawing/2014/main" id="{8A89C2E5-F892-4666-85FB-995578FBC7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54" name="Freeform 22">
                <a:extLst>
                  <a:ext uri="{FF2B5EF4-FFF2-40B4-BE49-F238E27FC236}">
                    <a16:creationId xmlns:a16="http://schemas.microsoft.com/office/drawing/2014/main" id="{6DC6174B-0EC3-4A81-A0D1-D10DBB869A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55" name="Freeform 23">
                <a:extLst>
                  <a:ext uri="{FF2B5EF4-FFF2-40B4-BE49-F238E27FC236}">
                    <a16:creationId xmlns:a16="http://schemas.microsoft.com/office/drawing/2014/main" id="{2CB96070-0553-4F79-984C-8DABB1CD5D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56" name="Freeform 24">
                <a:extLst>
                  <a:ext uri="{FF2B5EF4-FFF2-40B4-BE49-F238E27FC236}">
                    <a16:creationId xmlns:a16="http://schemas.microsoft.com/office/drawing/2014/main" id="{BA23B6E2-3718-4009-B80E-9279154B1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57" name="Freeform 25">
                <a:extLst>
                  <a:ext uri="{FF2B5EF4-FFF2-40B4-BE49-F238E27FC236}">
                    <a16:creationId xmlns:a16="http://schemas.microsoft.com/office/drawing/2014/main" id="{CAFB32D5-E528-419B-80EE-1475633970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58" name="Freeform 26">
                <a:extLst>
                  <a:ext uri="{FF2B5EF4-FFF2-40B4-BE49-F238E27FC236}">
                    <a16:creationId xmlns:a16="http://schemas.microsoft.com/office/drawing/2014/main" id="{A68ADD35-4FEA-404D-B2F3-23556E6E8F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59" name="Freeform 27">
                <a:extLst>
                  <a:ext uri="{FF2B5EF4-FFF2-40B4-BE49-F238E27FC236}">
                    <a16:creationId xmlns:a16="http://schemas.microsoft.com/office/drawing/2014/main" id="{89CF17CA-49E3-4B4A-836A-4FD55C67BE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60" name="Freeform 28">
                <a:extLst>
                  <a:ext uri="{FF2B5EF4-FFF2-40B4-BE49-F238E27FC236}">
                    <a16:creationId xmlns:a16="http://schemas.microsoft.com/office/drawing/2014/main" id="{AB394F2E-F3E7-4CED-84A9-35C47AB287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61" name="Freeform 29">
                <a:extLst>
                  <a:ext uri="{FF2B5EF4-FFF2-40B4-BE49-F238E27FC236}">
                    <a16:creationId xmlns:a16="http://schemas.microsoft.com/office/drawing/2014/main" id="{FF816C2F-3999-4A9F-8395-5D68ED33A4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62" name="Freeform 30">
                <a:extLst>
                  <a:ext uri="{FF2B5EF4-FFF2-40B4-BE49-F238E27FC236}">
                    <a16:creationId xmlns:a16="http://schemas.microsoft.com/office/drawing/2014/main" id="{82AD6AC6-71D5-4BD8-9185-D3062968B5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63" name="Freeform 31">
                <a:extLst>
                  <a:ext uri="{FF2B5EF4-FFF2-40B4-BE49-F238E27FC236}">
                    <a16:creationId xmlns:a16="http://schemas.microsoft.com/office/drawing/2014/main" id="{743A50C2-65CF-4F4C-B412-6149A93AC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3126" name="Group 3125">
              <a:extLst>
                <a:ext uri="{FF2B5EF4-FFF2-40B4-BE49-F238E27FC236}">
                  <a16:creationId xmlns:a16="http://schemas.microsoft.com/office/drawing/2014/main" id="{6C0E7A88-FEDF-4C4F-A6B4-F7DDE9DE92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3127" name="Freeform 32">
                <a:extLst>
                  <a:ext uri="{FF2B5EF4-FFF2-40B4-BE49-F238E27FC236}">
                    <a16:creationId xmlns:a16="http://schemas.microsoft.com/office/drawing/2014/main" id="{AE94B3EE-D5C0-4BDE-B6AA-7599F0486E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28" name="Freeform 33">
                <a:extLst>
                  <a:ext uri="{FF2B5EF4-FFF2-40B4-BE49-F238E27FC236}">
                    <a16:creationId xmlns:a16="http://schemas.microsoft.com/office/drawing/2014/main" id="{5EF110E8-C00D-454E-8F3A-ECF2D35667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29" name="Freeform 34">
                <a:extLst>
                  <a:ext uri="{FF2B5EF4-FFF2-40B4-BE49-F238E27FC236}">
                    <a16:creationId xmlns:a16="http://schemas.microsoft.com/office/drawing/2014/main" id="{BFC5F327-6927-4F35-9AF6-C45527BB45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30" name="Freeform 35">
                <a:extLst>
                  <a:ext uri="{FF2B5EF4-FFF2-40B4-BE49-F238E27FC236}">
                    <a16:creationId xmlns:a16="http://schemas.microsoft.com/office/drawing/2014/main" id="{BF2D314D-AEDE-418D-9702-D3CDB98C3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31" name="Freeform 36">
                <a:extLst>
                  <a:ext uri="{FF2B5EF4-FFF2-40B4-BE49-F238E27FC236}">
                    <a16:creationId xmlns:a16="http://schemas.microsoft.com/office/drawing/2014/main" id="{64FD07F8-3CA6-4209-9A9E-30609FE9A3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32" name="Freeform 37">
                <a:extLst>
                  <a:ext uri="{FF2B5EF4-FFF2-40B4-BE49-F238E27FC236}">
                    <a16:creationId xmlns:a16="http://schemas.microsoft.com/office/drawing/2014/main" id="{AB0AE24D-CD49-4B57-82E0-780F62AE4F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33" name="Freeform 38">
                <a:extLst>
                  <a:ext uri="{FF2B5EF4-FFF2-40B4-BE49-F238E27FC236}">
                    <a16:creationId xmlns:a16="http://schemas.microsoft.com/office/drawing/2014/main" id="{66803AF8-6368-45E6-A0B7-C0C4CFFEEB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34" name="Freeform 39">
                <a:extLst>
                  <a:ext uri="{FF2B5EF4-FFF2-40B4-BE49-F238E27FC236}">
                    <a16:creationId xmlns:a16="http://schemas.microsoft.com/office/drawing/2014/main" id="{B4761E05-2792-472B-A814-9616151CF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35" name="Freeform 40">
                <a:extLst>
                  <a:ext uri="{FF2B5EF4-FFF2-40B4-BE49-F238E27FC236}">
                    <a16:creationId xmlns:a16="http://schemas.microsoft.com/office/drawing/2014/main" id="{40B6A261-9427-4E70-9564-048AD009BD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36" name="Rectangle 41">
                <a:extLst>
                  <a:ext uri="{FF2B5EF4-FFF2-40B4-BE49-F238E27FC236}">
                    <a16:creationId xmlns:a16="http://schemas.microsoft.com/office/drawing/2014/main" id="{68BFDFBE-2286-4123-9436-E1DF84AF49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pic>
        <p:nvPicPr>
          <p:cNvPr id="3165" name="Picture 2">
            <a:extLst>
              <a:ext uri="{FF2B5EF4-FFF2-40B4-BE49-F238E27FC236}">
                <a16:creationId xmlns:a16="http://schemas.microsoft.com/office/drawing/2014/main" id="{5B3DE270-418F-47A7-B311-C4D876041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5831CD9-CE47-D3C7-E44C-2AA1813B9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z="2800">
                <a:solidFill>
                  <a:srgbClr val="FFFFFF"/>
                </a:solidFill>
              </a:rPr>
              <a:t>基本類型轉換</a:t>
            </a:r>
          </a:p>
        </p:txBody>
      </p:sp>
      <p:sp useBgFill="1">
        <p:nvSpPr>
          <p:cNvPr id="3167" name="Round Diagonal Corner Rectangle 11">
            <a:extLst>
              <a:ext uri="{FF2B5EF4-FFF2-40B4-BE49-F238E27FC236}">
                <a16:creationId xmlns:a16="http://schemas.microsoft.com/office/drawing/2014/main" id="{A1351C6B-7343-451F-AB4A-1CE294A4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一張含有 文字, 字型, 白色, 螢幕擷取畫面 的圖片&#10;&#10;AI 產生的內容可能不正確。">
            <a:extLst>
              <a:ext uri="{FF2B5EF4-FFF2-40B4-BE49-F238E27FC236}">
                <a16:creationId xmlns:a16="http://schemas.microsoft.com/office/drawing/2014/main" id="{BF1420B8-8709-4FEA-AE6D-189A43331E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988" y="2410086"/>
            <a:ext cx="6112382" cy="203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05C115D-7439-2002-DD2B-47D6CCFEF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36041" y="2249487"/>
            <a:ext cx="3281004" cy="354171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FFFFFF"/>
                </a:solidFill>
              </a:rPr>
              <a:t>AutoConversion.java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FFFFFF"/>
                </a:solidFill>
              </a:rPr>
              <a:t>PrimitiveAndString.java</a:t>
            </a:r>
          </a:p>
        </p:txBody>
      </p:sp>
    </p:spTree>
    <p:extLst>
      <p:ext uri="{BB962C8B-B14F-4D97-AF65-F5344CB8AC3E}">
        <p14:creationId xmlns:p14="http://schemas.microsoft.com/office/powerpoint/2010/main" val="1119354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0E3151-90E1-9725-1E8C-1B17E4726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強制轉換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E2068D-34C6-12A9-6B6C-C4092A557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NarrowConversion.java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12678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0238CC-13BD-CA86-9506-F0EC09B81DC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45F73A-3507-464C-2051-8866CE0FDA5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000" b="1">
                <a:solidFill>
                  <a:srgbClr val="000000"/>
                </a:solidFill>
              </a:rPr>
              <a:t>Audience Q&amp;A</a:t>
            </a:r>
            <a:endParaRPr lang="zh-TW" altLang="en-US" sz="4000" b="1">
              <a:solidFill>
                <a:srgbClr val="00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B3E9CC-B063-7E54-02E2-CCD615053BCC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04" rIns="1852888" bIns="203818" rtlCol="0" anchor="ctr">
            <a:normAutofit fontScale="92500"/>
          </a:bodyPr>
          <a:lstStyle/>
          <a:p>
            <a:r>
              <a:rPr lang="en-US" altLang="zh-TW" sz="2600">
                <a:solidFill>
                  <a:srgbClr val="FFFFFF"/>
                </a:solidFill>
              </a:rPr>
              <a:t>The </a:t>
            </a:r>
            <a:r>
              <a:rPr lang="en-US" altLang="zh-TW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altLang="zh-TW" sz="2600">
                <a:solidFill>
                  <a:srgbClr val="FFFFFF"/>
                </a:solidFill>
              </a:rPr>
              <a:t> must be installed on every computer you’re presenting from</a:t>
            </a:r>
            <a:endParaRPr lang="zh-TW" altLang="en-US" sz="2600">
              <a:solidFill>
                <a:srgbClr val="FFFFFF"/>
              </a:solidFill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C55819A7-F7A5-CB2F-5411-612F334203B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梯形 6">
            <a:extLst>
              <a:ext uri="{FF2B5EF4-FFF2-40B4-BE49-F238E27FC236}">
                <a16:creationId xmlns:a16="http://schemas.microsoft.com/office/drawing/2014/main" id="{AC6AB866-B317-23E4-666E-322B41928835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altLang="zh-TW" sz="2600" b="1">
                <a:solidFill>
                  <a:srgbClr val="198038"/>
                </a:solidFill>
              </a:rPr>
              <a:t>Do not edit
</a:t>
            </a:r>
            <a:r>
              <a:rPr lang="en-US" altLang="zh-TW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zh-TW" altLang="en-US" sz="2200">
              <a:solidFill>
                <a:srgbClr val="198038"/>
              </a:solidFill>
            </a:endParaRPr>
          </a:p>
        </p:txBody>
      </p:sp>
      <p:pic>
        <p:nvPicPr>
          <p:cNvPr id="9" name="圖形 8">
            <a:extLst>
              <a:ext uri="{FF2B5EF4-FFF2-40B4-BE49-F238E27FC236}">
                <a16:creationId xmlns:a16="http://schemas.microsoft.com/office/drawing/2014/main" id="{81FD153B-84EE-5F5F-7A36-05F8E1594724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057902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EE7D99-3DC0-B13C-E82D-9BC8850E1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8274F9-3A93-47D7-37AE-D0646899C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算術運算子</a:t>
            </a:r>
            <a:endParaRPr lang="en-US" altLang="zh-TW" dirty="0"/>
          </a:p>
          <a:p>
            <a:r>
              <a:rPr lang="zh-TW" altLang="en-US" dirty="0"/>
              <a:t>賦值運算子</a:t>
            </a:r>
            <a:endParaRPr lang="en-US" altLang="zh-TW" dirty="0"/>
          </a:p>
          <a:p>
            <a:r>
              <a:rPr lang="zh-TW" altLang="en-US" dirty="0"/>
              <a:t>比較運算子</a:t>
            </a:r>
            <a:endParaRPr lang="en-US" altLang="zh-TW" dirty="0"/>
          </a:p>
          <a:p>
            <a:r>
              <a:rPr lang="zh-TW" altLang="en-US" dirty="0"/>
              <a:t>邏輯運算子</a:t>
            </a:r>
            <a:endParaRPr lang="en-US" altLang="zh-TW" dirty="0"/>
          </a:p>
          <a:p>
            <a:r>
              <a:rPr lang="zh-TW" altLang="en-US" dirty="0"/>
              <a:t>位元運算子</a:t>
            </a:r>
            <a:endParaRPr lang="en-US" altLang="zh-TW" dirty="0"/>
          </a:p>
          <a:p>
            <a:r>
              <a:rPr lang="zh-TW" altLang="en-US" dirty="0"/>
              <a:t>類型相關運算子</a:t>
            </a:r>
          </a:p>
        </p:txBody>
      </p:sp>
    </p:spTree>
    <p:extLst>
      <p:ext uri="{BB962C8B-B14F-4D97-AF65-F5344CB8AC3E}">
        <p14:creationId xmlns:p14="http://schemas.microsoft.com/office/powerpoint/2010/main" val="3917886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E57E53-BB80-AB1B-2AD4-3B9C92E24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算術運算子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F53FEB-F6D4-65CF-FBDB-5B5A195DA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+</a:t>
            </a:r>
            <a:r>
              <a:rPr lang="zh-TW" altLang="en-US" dirty="0"/>
              <a:t>、</a:t>
            </a:r>
            <a:r>
              <a:rPr lang="en-US" altLang="zh-TW" dirty="0"/>
              <a:t>-</a:t>
            </a:r>
            <a:r>
              <a:rPr lang="zh-TW" altLang="en-US" dirty="0"/>
              <a:t>、</a:t>
            </a:r>
            <a:r>
              <a:rPr lang="en-US" altLang="zh-TW" dirty="0"/>
              <a:t>*</a:t>
            </a:r>
          </a:p>
          <a:p>
            <a:r>
              <a:rPr lang="en-US" altLang="zh-TW" dirty="0"/>
              <a:t>/ :</a:t>
            </a:r>
            <a:r>
              <a:rPr lang="zh-TW" altLang="en-US" dirty="0"/>
              <a:t>求商</a:t>
            </a:r>
            <a:r>
              <a:rPr lang="en-US" altLang="zh-TW" dirty="0"/>
              <a:t>:DivTest.java</a:t>
            </a:r>
          </a:p>
          <a:p>
            <a:r>
              <a:rPr lang="en-US" altLang="zh-TW" dirty="0"/>
              <a:t>%:</a:t>
            </a:r>
            <a:r>
              <a:rPr lang="zh-TW" altLang="en-US" dirty="0"/>
              <a:t>求餘數</a:t>
            </a:r>
            <a:r>
              <a:rPr lang="en-US" altLang="zh-TW" dirty="0"/>
              <a:t>:ModTest.java</a:t>
            </a:r>
          </a:p>
          <a:p>
            <a:r>
              <a:rPr lang="en-US" altLang="zh-TW" dirty="0"/>
              <a:t>++</a:t>
            </a:r>
            <a:r>
              <a:rPr lang="zh-TW" altLang="en-US" dirty="0"/>
              <a:t>、</a:t>
            </a:r>
            <a:r>
              <a:rPr lang="en-US" altLang="zh-TW" dirty="0"/>
              <a:t>--:PlusPlus.java</a:t>
            </a:r>
          </a:p>
          <a:p>
            <a:r>
              <a:rPr lang="en-US" altLang="zh-TW" dirty="0" err="1"/>
              <a:t>Java.Math:MathTest.java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30395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E1F59D-EAB0-3E16-041F-76B194D87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賦值運算子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37A7AD-C574-9D3F-3E6B-4A888288F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AssignOperatorTest.java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72524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C5FEF2-CF85-D6FF-D311-93A8790AE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位元運算子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C496D8-BA82-502E-BBBE-83A90DA6F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&amp;: and</a:t>
            </a:r>
          </a:p>
          <a:p>
            <a:r>
              <a:rPr lang="en-US" altLang="zh-TW" dirty="0"/>
              <a:t>|: or</a:t>
            </a:r>
          </a:p>
          <a:p>
            <a:r>
              <a:rPr lang="en-US" altLang="zh-TW" dirty="0"/>
              <a:t>~:not</a:t>
            </a:r>
          </a:p>
          <a:p>
            <a:r>
              <a:rPr lang="en-US" altLang="zh-TW" dirty="0"/>
              <a:t>^: </a:t>
            </a:r>
            <a:r>
              <a:rPr lang="en-US" altLang="zh-TW" dirty="0" err="1"/>
              <a:t>xor</a:t>
            </a:r>
            <a:endParaRPr lang="en-US" altLang="zh-TW" dirty="0"/>
          </a:p>
          <a:p>
            <a:r>
              <a:rPr lang="en-US" altLang="zh-TW" dirty="0"/>
              <a:t>&lt;&lt;:</a:t>
            </a:r>
            <a:r>
              <a:rPr lang="zh-TW" altLang="en-US" dirty="0"/>
              <a:t>左移</a:t>
            </a:r>
            <a:endParaRPr lang="en-US" altLang="zh-TW" dirty="0"/>
          </a:p>
          <a:p>
            <a:r>
              <a:rPr lang="en-US" altLang="zh-TW" dirty="0"/>
              <a:t>&gt;&gt;:</a:t>
            </a:r>
            <a:r>
              <a:rPr lang="zh-TW" altLang="en-US" dirty="0"/>
              <a:t>右移</a:t>
            </a:r>
            <a:endParaRPr lang="en-US" altLang="zh-TW" dirty="0"/>
          </a:p>
          <a:p>
            <a:r>
              <a:rPr lang="en-US" altLang="zh-TW" dirty="0"/>
              <a:t>&gt;&gt;&gt;:</a:t>
            </a:r>
            <a:r>
              <a:rPr lang="zh-TW" altLang="en-US" dirty="0"/>
              <a:t>無號右移</a:t>
            </a:r>
          </a:p>
        </p:txBody>
      </p:sp>
    </p:spTree>
    <p:extLst>
      <p:ext uri="{BB962C8B-B14F-4D97-AF65-F5344CB8AC3E}">
        <p14:creationId xmlns:p14="http://schemas.microsoft.com/office/powerpoint/2010/main" val="41298634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B871E5-2D46-24C2-5383-687040C33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加強版賦直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59E29A-032E-AAB2-E4AF-125CEEB5C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+=:</a:t>
            </a:r>
            <a:r>
              <a:rPr lang="zh-TW" altLang="en-US" dirty="0"/>
              <a:t> </a:t>
            </a:r>
            <a:r>
              <a:rPr lang="en-US" altLang="zh-TW" dirty="0"/>
              <a:t>x+=y </a:t>
            </a:r>
            <a:r>
              <a:rPr lang="en-US" altLang="zh-TW" dirty="0">
                <a:sym typeface="Wingdings" panose="05000000000000000000" pitchFamily="2" charset="2"/>
              </a:rPr>
              <a:t> x=</a:t>
            </a:r>
            <a:r>
              <a:rPr lang="en-US" altLang="zh-TW" dirty="0" err="1">
                <a:sym typeface="Wingdings" panose="05000000000000000000" pitchFamily="2" charset="2"/>
              </a:rPr>
              <a:t>x+y</a:t>
            </a:r>
            <a:endParaRPr lang="en-US" altLang="zh-TW" dirty="0">
              <a:sym typeface="Wingdings" panose="05000000000000000000" pitchFamily="2" charset="2"/>
            </a:endParaRPr>
          </a:p>
          <a:p>
            <a:r>
              <a:rPr lang="en-US" altLang="zh-TW" dirty="0"/>
              <a:t>-=:</a:t>
            </a:r>
            <a:r>
              <a:rPr lang="zh-TW" altLang="en-US" dirty="0"/>
              <a:t> </a:t>
            </a:r>
            <a:r>
              <a:rPr lang="en-US" altLang="zh-TW" dirty="0"/>
              <a:t>x-=y </a:t>
            </a:r>
            <a:r>
              <a:rPr lang="en-US" altLang="zh-TW" dirty="0">
                <a:sym typeface="Wingdings" panose="05000000000000000000" pitchFamily="2" charset="2"/>
              </a:rPr>
              <a:t> x=x</a:t>
            </a:r>
            <a:r>
              <a:rPr lang="en-US" altLang="zh-TW" dirty="0"/>
              <a:t>-</a:t>
            </a:r>
            <a:r>
              <a:rPr lang="en-US" altLang="zh-TW" dirty="0">
                <a:sym typeface="Wingdings" panose="05000000000000000000" pitchFamily="2" charset="2"/>
              </a:rPr>
              <a:t>y</a:t>
            </a:r>
            <a:endParaRPr lang="zh-TW" altLang="en-US" dirty="0"/>
          </a:p>
          <a:p>
            <a:r>
              <a:rPr lang="en-US" altLang="zh-TW" dirty="0"/>
              <a:t>*=:</a:t>
            </a:r>
            <a:r>
              <a:rPr lang="zh-TW" altLang="en-US" dirty="0"/>
              <a:t> </a:t>
            </a:r>
            <a:r>
              <a:rPr lang="en-US" altLang="zh-TW" dirty="0"/>
              <a:t>x*=y </a:t>
            </a:r>
            <a:r>
              <a:rPr lang="en-US" altLang="zh-TW" dirty="0">
                <a:sym typeface="Wingdings" panose="05000000000000000000" pitchFamily="2" charset="2"/>
              </a:rPr>
              <a:t> x=x</a:t>
            </a:r>
            <a:r>
              <a:rPr lang="en-US" altLang="zh-TW" dirty="0"/>
              <a:t>*</a:t>
            </a:r>
            <a:r>
              <a:rPr lang="en-US" altLang="zh-TW" dirty="0">
                <a:sym typeface="Wingdings" panose="05000000000000000000" pitchFamily="2" charset="2"/>
              </a:rPr>
              <a:t>y</a:t>
            </a:r>
            <a:endParaRPr lang="zh-TW" altLang="en-US" dirty="0"/>
          </a:p>
          <a:p>
            <a:r>
              <a:rPr lang="en-US" altLang="zh-TW" dirty="0"/>
              <a:t>/=:</a:t>
            </a:r>
            <a:r>
              <a:rPr lang="zh-TW" altLang="en-US" dirty="0"/>
              <a:t> </a:t>
            </a:r>
            <a:r>
              <a:rPr lang="en-US" altLang="zh-TW" dirty="0"/>
              <a:t>x/=y </a:t>
            </a:r>
            <a:r>
              <a:rPr lang="en-US" altLang="zh-TW" dirty="0">
                <a:sym typeface="Wingdings" panose="05000000000000000000" pitchFamily="2" charset="2"/>
              </a:rPr>
              <a:t> x=x</a:t>
            </a:r>
            <a:r>
              <a:rPr lang="en-US" altLang="zh-TW" dirty="0"/>
              <a:t>/</a:t>
            </a:r>
            <a:r>
              <a:rPr lang="en-US" altLang="zh-TW" dirty="0">
                <a:sym typeface="Wingdings" panose="05000000000000000000" pitchFamily="2" charset="2"/>
              </a:rPr>
              <a:t>y</a:t>
            </a:r>
            <a:endParaRPr lang="en-US" altLang="zh-TW" dirty="0"/>
          </a:p>
          <a:p>
            <a:r>
              <a:rPr lang="en-US" altLang="zh-TW" dirty="0"/>
              <a:t>%=:</a:t>
            </a:r>
            <a:r>
              <a:rPr lang="zh-TW" altLang="en-US" dirty="0"/>
              <a:t> </a:t>
            </a:r>
            <a:r>
              <a:rPr lang="en-US" altLang="zh-TW" dirty="0"/>
              <a:t>x%=y </a:t>
            </a:r>
            <a:r>
              <a:rPr lang="en-US" altLang="zh-TW" dirty="0">
                <a:sym typeface="Wingdings" panose="05000000000000000000" pitchFamily="2" charset="2"/>
              </a:rPr>
              <a:t> x=</a:t>
            </a:r>
            <a:r>
              <a:rPr lang="en-US" altLang="zh-TW" dirty="0" err="1">
                <a:sym typeface="Wingdings" panose="05000000000000000000" pitchFamily="2" charset="2"/>
              </a:rPr>
              <a:t>x</a:t>
            </a:r>
            <a:r>
              <a:rPr lang="en-US" altLang="zh-TW" dirty="0" err="1"/>
              <a:t>%</a:t>
            </a:r>
            <a:r>
              <a:rPr lang="en-US" altLang="zh-TW" dirty="0" err="1">
                <a:sym typeface="Wingdings" panose="05000000000000000000" pitchFamily="2" charset="2"/>
              </a:rPr>
              <a:t>y</a:t>
            </a:r>
            <a:endParaRPr lang="zh-TW" altLang="en-US" dirty="0"/>
          </a:p>
          <a:p>
            <a:r>
              <a:rPr lang="en-US" altLang="zh-TW" dirty="0"/>
              <a:t>EnhanceAssignTest.java</a:t>
            </a:r>
          </a:p>
        </p:txBody>
      </p:sp>
    </p:spTree>
    <p:extLst>
      <p:ext uri="{BB962C8B-B14F-4D97-AF65-F5344CB8AC3E}">
        <p14:creationId xmlns:p14="http://schemas.microsoft.com/office/powerpoint/2010/main" val="21454520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6C576C-7EBF-53C9-97FB-1263D4F93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比較運算值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E836E-D028-2409-9E1D-ABB2AA3DA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70268"/>
            <a:ext cx="9905999" cy="3541714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&gt;:</a:t>
            </a:r>
            <a:r>
              <a:rPr lang="zh-TW" altLang="en-US" dirty="0"/>
              <a:t>大於</a:t>
            </a:r>
            <a:endParaRPr lang="en-US" altLang="zh-TW" dirty="0"/>
          </a:p>
          <a:p>
            <a:r>
              <a:rPr lang="en-US" altLang="zh-TW" dirty="0"/>
              <a:t>&gt;=:</a:t>
            </a:r>
            <a:r>
              <a:rPr lang="zh-TW" altLang="en-US" dirty="0"/>
              <a:t>大於等於</a:t>
            </a:r>
            <a:endParaRPr lang="en-US" altLang="zh-TW" dirty="0"/>
          </a:p>
          <a:p>
            <a:r>
              <a:rPr lang="en-US" altLang="zh-TW" dirty="0"/>
              <a:t>&lt;:</a:t>
            </a:r>
            <a:r>
              <a:rPr lang="zh-TW" altLang="en-US" dirty="0"/>
              <a:t>小於</a:t>
            </a:r>
            <a:endParaRPr lang="en-US" altLang="zh-TW" dirty="0"/>
          </a:p>
          <a:p>
            <a:r>
              <a:rPr lang="en-US" altLang="zh-TW" dirty="0"/>
              <a:t>&lt;=:</a:t>
            </a:r>
            <a:r>
              <a:rPr lang="zh-TW" altLang="en-US" dirty="0"/>
              <a:t>小於等於</a:t>
            </a:r>
            <a:endParaRPr lang="en-US" altLang="zh-TW" dirty="0"/>
          </a:p>
          <a:p>
            <a:r>
              <a:rPr lang="en-US" altLang="zh-TW" dirty="0"/>
              <a:t>==:</a:t>
            </a:r>
            <a:r>
              <a:rPr lang="zh-TW" altLang="en-US" dirty="0"/>
              <a:t>等於</a:t>
            </a:r>
            <a:endParaRPr lang="en-US" altLang="zh-TW" dirty="0"/>
          </a:p>
          <a:p>
            <a:r>
              <a:rPr lang="en-US" altLang="zh-TW" dirty="0"/>
              <a:t>!=:</a:t>
            </a:r>
            <a:r>
              <a:rPr lang="zh-TW" altLang="en-US" dirty="0"/>
              <a:t>不等於</a:t>
            </a:r>
            <a:endParaRPr lang="en-US" altLang="zh-TW" dirty="0"/>
          </a:p>
          <a:p>
            <a:r>
              <a:rPr lang="en-US" altLang="zh-TW" dirty="0"/>
              <a:t>ComparableOperatorTest.java</a:t>
            </a:r>
          </a:p>
        </p:txBody>
      </p:sp>
    </p:spTree>
    <p:extLst>
      <p:ext uri="{BB962C8B-B14F-4D97-AF65-F5344CB8AC3E}">
        <p14:creationId xmlns:p14="http://schemas.microsoft.com/office/powerpoint/2010/main" val="30334038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B61CA7-6F66-B160-5D15-E5E8EB781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邏輯運算子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3072B3-16C2-CDFA-FB3F-01468B171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&amp;&amp;:</a:t>
            </a:r>
            <a:r>
              <a:rPr lang="zh-TW" altLang="en-US" dirty="0"/>
              <a:t> </a:t>
            </a:r>
            <a:r>
              <a:rPr lang="en-US" altLang="zh-TW" dirty="0"/>
              <a:t>and</a:t>
            </a:r>
          </a:p>
          <a:p>
            <a:r>
              <a:rPr lang="en-US" altLang="zh-TW" dirty="0"/>
              <a:t>&amp;:and </a:t>
            </a:r>
            <a:r>
              <a:rPr lang="zh-TW" altLang="en-US" dirty="0"/>
              <a:t>全部執行版</a:t>
            </a:r>
            <a:endParaRPr lang="en-US" altLang="zh-TW" dirty="0"/>
          </a:p>
          <a:p>
            <a:r>
              <a:rPr lang="en-US" altLang="zh-TW" dirty="0"/>
              <a:t>|| : or</a:t>
            </a:r>
          </a:p>
          <a:p>
            <a:r>
              <a:rPr lang="en-US" altLang="zh-TW" dirty="0"/>
              <a:t>| :or</a:t>
            </a:r>
            <a:r>
              <a:rPr lang="zh-TW" altLang="en-US" dirty="0"/>
              <a:t>全部執行版</a:t>
            </a:r>
            <a:endParaRPr lang="en-US" altLang="zh-TW" dirty="0"/>
          </a:p>
          <a:p>
            <a:r>
              <a:rPr lang="en-US" altLang="zh-TW" dirty="0"/>
              <a:t>!: not</a:t>
            </a:r>
          </a:p>
          <a:p>
            <a:r>
              <a:rPr lang="en-US" altLang="zh-TW" dirty="0"/>
              <a:t>^:</a:t>
            </a:r>
            <a:r>
              <a:rPr lang="en-US" altLang="zh-TW" dirty="0" err="1"/>
              <a:t>xor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466898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891865-E3EB-556C-618B-FA2B1E820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三元運算子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925B04-0025-CA98-489B-A240A28DF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ThreeTest.java</a:t>
            </a:r>
          </a:p>
          <a:p>
            <a:r>
              <a:rPr lang="en-US" altLang="zh-TW" dirty="0"/>
              <a:t>(expression)? </a:t>
            </a:r>
            <a:r>
              <a:rPr lang="en-US" altLang="zh-TW" dirty="0" err="1"/>
              <a:t>if-true-statement:if-false-statement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717710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0B010C-01F8-BB2C-FAF2-2A359ACB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運算子優先級別</a:t>
            </a:r>
          </a:p>
        </p:txBody>
      </p:sp>
      <p:pic>
        <p:nvPicPr>
          <p:cNvPr id="5" name="內容版面配置區 4" descr="一張含有 文字, 數字, 功能表, 筆跡 的圖片&#10;&#10;AI 產生的內容可能不正確。">
            <a:extLst>
              <a:ext uri="{FF2B5EF4-FFF2-40B4-BE49-F238E27FC236}">
                <a16:creationId xmlns:a16="http://schemas.microsoft.com/office/drawing/2014/main" id="{9312588A-C9EC-0154-3963-44E1C3F19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2206" y="2249488"/>
            <a:ext cx="4724413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904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7BBF23-CE4F-F354-AEF8-9853D5786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C93B00-CFED-C444-A005-C0F3FED05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定義學生、老師、教室三個類別，並自訂給予變數，為其撰寫文件註解，並產生</a:t>
            </a:r>
            <a:r>
              <a:rPr lang="en-US" altLang="zh-TW" dirty="0"/>
              <a:t>API</a:t>
            </a:r>
            <a:r>
              <a:rPr lang="zh-TW" altLang="en-US" dirty="0"/>
              <a:t>文件</a:t>
            </a:r>
            <a:endParaRPr lang="en-US" altLang="zh-TW" dirty="0"/>
          </a:p>
          <a:p>
            <a:r>
              <a:rPr lang="zh-TW" altLang="en-US"/>
              <a:t>熟悉今天的分享內容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961601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0.0.7308"/>
  <p:tag name="SLIDO_PRESENTATION_ID" val="1389e01e-d4fe-453f-9e2d-b1196a6a09d4"/>
  <p:tag name="SLIDO_EVENT_UUID" val="9c25e807-8834-4b5e-9fd7-425dc8402dc5"/>
  <p:tag name="SLIDO_EVENT_SECTION_UUID" val="183f31fc-00a2-422d-939e-2cda7ba4a8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jg4MzUwOTN9"/>
  <p:tag name="SLIDO_TYPE" val="SlidoQ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jg4MzUxNjd9"/>
  <p:tag name="SLIDO_TYPE" val="SlidoQ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jg4MzYxNzZ9"/>
  <p:tag name="SLIDO_TYPE" val="SlidoQ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電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{B99AABA2-2240-4F03-B5F1-5DBEFBB15288}TF6d5feb1e-e145-43f1-b745-cb4b54c5ee9742c6fa75-22948a3009fc</Template>
  <TotalTime>879</TotalTime>
  <Words>1002</Words>
  <Application>Microsoft Office PowerPoint</Application>
  <PresentationFormat>寬螢幕</PresentationFormat>
  <Paragraphs>187</Paragraphs>
  <Slides>46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46</vt:i4>
      </vt:variant>
    </vt:vector>
  </HeadingPairs>
  <TitlesOfParts>
    <vt:vector size="51" baseType="lpstr">
      <vt:lpstr>Aptos</vt:lpstr>
      <vt:lpstr>Arial</vt:lpstr>
      <vt:lpstr>Tw Cen MT</vt:lpstr>
      <vt:lpstr>Wingdings</vt:lpstr>
      <vt:lpstr>電路</vt:lpstr>
      <vt:lpstr>JAVA</vt:lpstr>
      <vt:lpstr>可以匿名提問</vt:lpstr>
      <vt:lpstr>JAVA 歷史</vt:lpstr>
      <vt:lpstr>JAVA名詞解釋</vt:lpstr>
      <vt:lpstr>程式運行機制</vt:lpstr>
      <vt:lpstr>程式運行機制</vt:lpstr>
      <vt:lpstr>程式運行機制</vt:lpstr>
      <vt:lpstr>JAVA運作機制</vt:lpstr>
      <vt:lpstr>JAVA運作機制</vt:lpstr>
      <vt:lpstr>JDK安裝準備</vt:lpstr>
      <vt:lpstr>設置環境變數</vt:lpstr>
      <vt:lpstr>用帥一點的東西來執行</vt:lpstr>
      <vt:lpstr>HELLO world</vt:lpstr>
      <vt:lpstr>JAVA 基本規則</vt:lpstr>
      <vt:lpstr>先來聊聊</vt:lpstr>
      <vt:lpstr>PowerPoint 簡報</vt:lpstr>
      <vt:lpstr>開始吧</vt:lpstr>
      <vt:lpstr>註解</vt:lpstr>
      <vt:lpstr>單行註解與多行註解</vt:lpstr>
      <vt:lpstr>文件註解</vt:lpstr>
      <vt:lpstr>寫一個註解程式</vt:lpstr>
      <vt:lpstr>PowerPoint 簡報</vt:lpstr>
      <vt:lpstr>分隔符號、Identifier(識別子)、關鍵字</vt:lpstr>
      <vt:lpstr>資料類型</vt:lpstr>
      <vt:lpstr>參照類型</vt:lpstr>
      <vt:lpstr>基本型態</vt:lpstr>
      <vt:lpstr>整數類型-寫個程式一下</vt:lpstr>
      <vt:lpstr>整數類型-寫個程式一下</vt:lpstr>
      <vt:lpstr>字元類型</vt:lpstr>
      <vt:lpstr>字元類型-寫個程式一下</vt:lpstr>
      <vt:lpstr>浮點數</vt:lpstr>
      <vt:lpstr>數值使用底線分隔</vt:lpstr>
      <vt:lpstr>布林</vt:lpstr>
      <vt:lpstr>基本類型轉換</vt:lpstr>
      <vt:lpstr>強制轉換</vt:lpstr>
      <vt:lpstr>PowerPoint 簡報</vt:lpstr>
      <vt:lpstr>運算子</vt:lpstr>
      <vt:lpstr>算術運算子</vt:lpstr>
      <vt:lpstr>賦值運算子</vt:lpstr>
      <vt:lpstr>位元運算子</vt:lpstr>
      <vt:lpstr>加強版賦直</vt:lpstr>
      <vt:lpstr>比較運算值</vt:lpstr>
      <vt:lpstr>邏輯運算子</vt:lpstr>
      <vt:lpstr>三元運算子</vt:lpstr>
      <vt:lpstr>運算子優先級別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星傑 羅</dc:creator>
  <cp:lastModifiedBy>星傑 羅</cp:lastModifiedBy>
  <cp:revision>27</cp:revision>
  <dcterms:created xsi:type="dcterms:W3CDTF">2026-01-18T05:44:44Z</dcterms:created>
  <dcterms:modified xsi:type="dcterms:W3CDTF">2026-01-19T16:25:07Z</dcterms:modified>
</cp:coreProperties>
</file>